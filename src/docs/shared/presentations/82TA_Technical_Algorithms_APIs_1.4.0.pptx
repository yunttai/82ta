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4b0ef1f304a36" /><Relationship Type="http://schemas.openxmlformats.org/officeDocument/2006/relationships/extended-properties" Target="/docProps/app.xml" Id="Rf783ccb2ee644c0e" /><Relationship Type="http://schemas.openxmlformats.org/officeDocument/2006/relationships/officeDocument" Target="/ppt/presentation.xml" Id="Radd026cd111f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8e2e73eb448e2"/>
  </p:sldMasterIdLst>
  <p:notesMasterIdLst>
    <p:notesMasterId xmlns:r="http://schemas.openxmlformats.org/officeDocument/2006/relationships" r:id="R78852049202641f1"/>
  </p:notesMasterIdLst>
  <p:sldIdLst>
    <p:sldId xmlns:r="http://schemas.openxmlformats.org/officeDocument/2006/relationships" id="256" r:id="R5f4fcf13d7004e6a"/>
    <p:sldId xmlns:r="http://schemas.openxmlformats.org/officeDocument/2006/relationships" id="257" r:id="R91014d6d5e2f4778"/>
    <p:sldId xmlns:r="http://schemas.openxmlformats.org/officeDocument/2006/relationships" id="258" r:id="R28e4da2cd331447e"/>
    <p:sldId xmlns:r="http://schemas.openxmlformats.org/officeDocument/2006/relationships" id="259" r:id="Ra7331da522a24da8"/>
    <p:sldId xmlns:r="http://schemas.openxmlformats.org/officeDocument/2006/relationships" id="260" r:id="R3402d87104504756"/>
    <p:sldId xmlns:r="http://schemas.openxmlformats.org/officeDocument/2006/relationships" id="261" r:id="Rc4e468033ff24be6"/>
    <p:sldId xmlns:r="http://schemas.openxmlformats.org/officeDocument/2006/relationships" id="262" r:id="R1c7ad73a019f4b55"/>
    <p:sldId xmlns:r="http://schemas.openxmlformats.org/officeDocument/2006/relationships" id="263" r:id="R32cca49828aa409e"/>
    <p:sldId xmlns:r="http://schemas.openxmlformats.org/officeDocument/2006/relationships" id="264" r:id="Rd93ee894457c4b37"/>
    <p:sldId xmlns:r="http://schemas.openxmlformats.org/officeDocument/2006/relationships" id="265" r:id="R72a70fd28f0e448a"/>
    <p:sldId xmlns:r="http://schemas.openxmlformats.org/officeDocument/2006/relationships" id="266" r:id="R46d91c666b2740b7"/>
    <p:sldId xmlns:r="http://schemas.openxmlformats.org/officeDocument/2006/relationships" id="267" r:id="R969b73111f4042f5"/>
    <p:sldId xmlns:r="http://schemas.openxmlformats.org/officeDocument/2006/relationships" id="268" r:id="Rb75b2dd26bb648a3"/>
    <p:sldId xmlns:r="http://schemas.openxmlformats.org/officeDocument/2006/relationships" id="269" r:id="R34c4dfca144949fb"/>
    <p:sldId xmlns:r="http://schemas.openxmlformats.org/officeDocument/2006/relationships" id="270" r:id="Ra7e291b294934bc3"/>
    <p:sldId xmlns:r="http://schemas.openxmlformats.org/officeDocument/2006/relationships" id="271" r:id="Rba8b2592e6bd4fb4"/>
    <p:sldId xmlns:r="http://schemas.openxmlformats.org/officeDocument/2006/relationships" id="272" r:id="Rf7ba5dca52f44844"/>
    <p:sldId xmlns:r="http://schemas.openxmlformats.org/officeDocument/2006/relationships" id="273" r:id="R441c33026cf9425c"/>
    <p:sldId xmlns:r="http://schemas.openxmlformats.org/officeDocument/2006/relationships" id="274" r:id="Rd862a0ca8c8944f8"/>
    <p:sldId xmlns:r="http://schemas.openxmlformats.org/officeDocument/2006/relationships" id="275" r:id="R4e090a5b78cc4744"/>
    <p:sldId xmlns:r="http://schemas.openxmlformats.org/officeDocument/2006/relationships" id="276" r:id="R4e572ee2dc274e15"/>
    <p:sldId xmlns:r="http://schemas.openxmlformats.org/officeDocument/2006/relationships" id="277" r:id="R3ee09a5b61304bfd"/>
    <p:sldId xmlns:r="http://schemas.openxmlformats.org/officeDocument/2006/relationships" id="278" r:id="R6738526b28a7486b"/>
    <p:sldId xmlns:r="http://schemas.openxmlformats.org/officeDocument/2006/relationships" id="279" r:id="Rd4b3e18df8534c10"/>
    <p:sldId xmlns:r="http://schemas.openxmlformats.org/officeDocument/2006/relationships" id="280" r:id="R9ab7e7bdc2dd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3847e243ce451e" /><Relationship Type="http://schemas.openxmlformats.org/officeDocument/2006/relationships/slideMaster" Target="/ppt/slideMasters/slideMaster1.xml" Id="Rdec8e2e73eb448e2" /><Relationship Type="http://schemas.openxmlformats.org/officeDocument/2006/relationships/notesMaster" Target="/ppt/notesMasters/notesMaster1.xml" Id="R78852049202641f1" /><Relationship Type="http://schemas.openxmlformats.org/officeDocument/2006/relationships/presProps" Target="/ppt/presProps.xml" Id="R534d0e901812444a" /><Relationship Type="http://schemas.openxmlformats.org/officeDocument/2006/relationships/tableStyles" Target="/ppt/tableStyles.xml" Id="Rbfe22024046e4d3e" /><Relationship Type="http://schemas.openxmlformats.org/officeDocument/2006/relationships/slide" Target="/ppt/slides/slide1.xml" Id="R5f4fcf13d7004e6a" /><Relationship Type="http://schemas.openxmlformats.org/officeDocument/2006/relationships/slide" Target="/ppt/slides/slide2.xml" Id="R91014d6d5e2f4778" /><Relationship Type="http://schemas.openxmlformats.org/officeDocument/2006/relationships/slide" Target="/ppt/slides/slide3.xml" Id="R28e4da2cd331447e" /><Relationship Type="http://schemas.openxmlformats.org/officeDocument/2006/relationships/slide" Target="/ppt/slides/slide4.xml" Id="Ra7331da522a24da8" /><Relationship Type="http://schemas.openxmlformats.org/officeDocument/2006/relationships/slide" Target="/ppt/slides/slide5.xml" Id="R3402d87104504756" /><Relationship Type="http://schemas.openxmlformats.org/officeDocument/2006/relationships/slide" Target="/ppt/slides/slide6.xml" Id="Rc4e468033ff24be6" /><Relationship Type="http://schemas.openxmlformats.org/officeDocument/2006/relationships/slide" Target="/ppt/slides/slide7.xml" Id="R1c7ad73a019f4b55" /><Relationship Type="http://schemas.openxmlformats.org/officeDocument/2006/relationships/slide" Target="/ppt/slides/slide8.xml" Id="R32cca49828aa409e" /><Relationship Type="http://schemas.openxmlformats.org/officeDocument/2006/relationships/slide" Target="/ppt/slides/slide9.xml" Id="Rd93ee894457c4b37" /><Relationship Type="http://schemas.openxmlformats.org/officeDocument/2006/relationships/slide" Target="/ppt/slides/slide10.xml" Id="R72a70fd28f0e448a" /><Relationship Type="http://schemas.openxmlformats.org/officeDocument/2006/relationships/slide" Target="/ppt/slides/slide11.xml" Id="R46d91c666b2740b7" /><Relationship Type="http://schemas.openxmlformats.org/officeDocument/2006/relationships/slide" Target="/ppt/slides/slide12.xml" Id="R969b73111f4042f5" /><Relationship Type="http://schemas.openxmlformats.org/officeDocument/2006/relationships/slide" Target="/ppt/slides/slide13.xml" Id="Rb75b2dd26bb648a3" /><Relationship Type="http://schemas.openxmlformats.org/officeDocument/2006/relationships/slide" Target="/ppt/slides/slide14.xml" Id="R34c4dfca144949fb" /><Relationship Type="http://schemas.openxmlformats.org/officeDocument/2006/relationships/slide" Target="/ppt/slides/slide15.xml" Id="Ra7e291b294934bc3" /><Relationship Type="http://schemas.openxmlformats.org/officeDocument/2006/relationships/slide" Target="/ppt/slides/slide16.xml" Id="Rba8b2592e6bd4fb4" /><Relationship Type="http://schemas.openxmlformats.org/officeDocument/2006/relationships/slide" Target="/ppt/slides/slide17.xml" Id="Rf7ba5dca52f44844" /><Relationship Type="http://schemas.openxmlformats.org/officeDocument/2006/relationships/slide" Target="/ppt/slides/slide18.xml" Id="R441c33026cf9425c" /><Relationship Type="http://schemas.openxmlformats.org/officeDocument/2006/relationships/slide" Target="/ppt/slides/slide19.xml" Id="Rd862a0ca8c8944f8" /><Relationship Type="http://schemas.openxmlformats.org/officeDocument/2006/relationships/slide" Target="/ppt/slides/slide20.xml" Id="R4e090a5b78cc4744" /><Relationship Type="http://schemas.openxmlformats.org/officeDocument/2006/relationships/slide" Target="/ppt/slides/slide21.xml" Id="R4e572ee2dc274e15" /><Relationship Type="http://schemas.openxmlformats.org/officeDocument/2006/relationships/slide" Target="/ppt/slides/slide22.xml" Id="R3ee09a5b61304bfd" /><Relationship Type="http://schemas.openxmlformats.org/officeDocument/2006/relationships/slide" Target="/ppt/slides/slide23.xml" Id="R6738526b28a7486b" /><Relationship Type="http://schemas.openxmlformats.org/officeDocument/2006/relationships/slide" Target="/ppt/slides/slide24.xml" Id="Rd4b3e18df8534c10" /><Relationship Type="http://schemas.openxmlformats.org/officeDocument/2006/relationships/slide" Target="/ppt/slides/slide25.xml" Id="R9ab7e7bdc2dd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09820c15a34d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8340fb6ba4fc0" /><Relationship Type="http://schemas.openxmlformats.org/officeDocument/2006/relationships/notesMaster" Target="/ppt/notesMasters/notesMaster1.xml" Id="R13194734c9c346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434062a58d43dd" /><Relationship Type="http://schemas.openxmlformats.org/officeDocument/2006/relationships/notesMaster" Target="/ppt/notesMasters/notesMaster1.xml" Id="Ra7ffeb45c4f447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076962e1244127" /><Relationship Type="http://schemas.openxmlformats.org/officeDocument/2006/relationships/notesMaster" Target="/ppt/notesMasters/notesMaster1.xml" Id="R59a65ebeced04b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a7e04b7b5740a5" /><Relationship Type="http://schemas.openxmlformats.org/officeDocument/2006/relationships/notesMaster" Target="/ppt/notesMasters/notesMaster1.xml" Id="Ra1a91bcdb1f642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6309e5be0499f" /><Relationship Type="http://schemas.openxmlformats.org/officeDocument/2006/relationships/notesMaster" Target="/ppt/notesMasters/notesMaster1.xml" Id="Ra2531e3ceed24b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9d3f40b0f4b91" /><Relationship Type="http://schemas.openxmlformats.org/officeDocument/2006/relationships/notesMaster" Target="/ppt/notesMasters/notesMaster1.xml" Id="R07b4ee77ec0e42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92b3ec0b44f5b" /><Relationship Type="http://schemas.openxmlformats.org/officeDocument/2006/relationships/notesMaster" Target="/ppt/notesMasters/notesMaster1.xml" Id="R3f425f8bbc9745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3f37140ccb4e0e" /><Relationship Type="http://schemas.openxmlformats.org/officeDocument/2006/relationships/notesMaster" Target="/ppt/notesMasters/notesMaster1.xml" Id="R99123decbe2d45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2f5cecb484c8e" /><Relationship Type="http://schemas.openxmlformats.org/officeDocument/2006/relationships/notesMaster" Target="/ppt/notesMasters/notesMaster1.xml" Id="R54ebc9c47caf49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b3225965ae4967" /><Relationship Type="http://schemas.openxmlformats.org/officeDocument/2006/relationships/notesMaster" Target="/ppt/notesMasters/notesMaster1.xml" Id="R658a939274dc40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683363d4934485" /><Relationship Type="http://schemas.openxmlformats.org/officeDocument/2006/relationships/notesMaster" Target="/ppt/notesMasters/notesMaster1.xml" Id="Rfbc14137654347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9bb8d3ab494179" /><Relationship Type="http://schemas.openxmlformats.org/officeDocument/2006/relationships/notesMaster" Target="/ppt/notesMasters/notesMaster1.xml" Id="Rfd3f3a0e81ed4b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d412e1476349b8" /><Relationship Type="http://schemas.openxmlformats.org/officeDocument/2006/relationships/notesMaster" Target="/ppt/notesMasters/notesMaster1.xml" Id="Re59eab7b9ca34b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8b5f2153a54cf4" /><Relationship Type="http://schemas.openxmlformats.org/officeDocument/2006/relationships/notesMaster" Target="/ppt/notesMasters/notesMaster1.xml" Id="Rfd9ba2af3f2c4c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c21a925a2645ac" /><Relationship Type="http://schemas.openxmlformats.org/officeDocument/2006/relationships/notesMaster" Target="/ppt/notesMasters/notesMaster1.xml" Id="R45f8630cfc5141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e8bfe483354a81" /><Relationship Type="http://schemas.openxmlformats.org/officeDocument/2006/relationships/notesMaster" Target="/ppt/notesMasters/notesMaster1.xml" Id="R99c146cd226b41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68994374014ab3" /><Relationship Type="http://schemas.openxmlformats.org/officeDocument/2006/relationships/notesMaster" Target="/ppt/notesMasters/notesMaster1.xml" Id="R2c62a2e0eb6145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3337be08584fde" /><Relationship Type="http://schemas.openxmlformats.org/officeDocument/2006/relationships/notesMaster" Target="/ppt/notesMasters/notesMaster1.xml" Id="R1688bc1a97ab4d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51351bbf46d43f6" /><Relationship Type="http://schemas.openxmlformats.org/officeDocument/2006/relationships/notesMaster" Target="/ppt/notesMasters/notesMaster1.xml" Id="R408744d9814a4a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f298dc1f8a46b0" /><Relationship Type="http://schemas.openxmlformats.org/officeDocument/2006/relationships/notesMaster" Target="/ppt/notesMasters/notesMaster1.xml" Id="R4c0bcb8545a442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2f7d99f2834ffe" /><Relationship Type="http://schemas.openxmlformats.org/officeDocument/2006/relationships/notesMaster" Target="/ppt/notesMasters/notesMaster1.xml" Id="R2731e4b0347d4b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80d5111e904e5f" /><Relationship Type="http://schemas.openxmlformats.org/officeDocument/2006/relationships/notesMaster" Target="/ppt/notesMasters/notesMaster1.xml" Id="Refa0b2ce3d2544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c4169929294526" /><Relationship Type="http://schemas.openxmlformats.org/officeDocument/2006/relationships/notesMaster" Target="/ppt/notesMasters/notesMaster1.xml" Id="R51d505e8b5f643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4d12554636475a" /><Relationship Type="http://schemas.openxmlformats.org/officeDocument/2006/relationships/notesMaster" Target="/ppt/notesMasters/notesMaster1.xml" Id="R0ebb70a1a24047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d0695d6526447e" /><Relationship Type="http://schemas.openxmlformats.org/officeDocument/2006/relationships/notesMaster" Target="/ppt/notesMasters/notesMaster1.xml" Id="Rcaca195f8aa64b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목표: 82TA가 단순 길찾기가 아니라 예산·시간·불확실성·승차가능성을 동시에 다루는 계약 기반 최적화 제품임을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C:/Users/lyt20/82TA/src/contracts/CONTEXT_MANIFEST.json</a:t>
            </a:r>
          </a:p>
          <a:p xmlns:a="http://schemas.openxmlformats.org/drawingml/2006/main">
            <a:r>
              <a:t>- C:/Users/lyt20/82TA/src/contracts/CONTRACT_LOCK.json</a:t>
            </a:r>
          </a:p>
          <a:p xmlns:a="http://schemas.openxmlformats.org/drawingml/2006/main">
            <a:r>
              <a:t>- C:/Users/lyt20/82TA/src/docs/shared/PROJECT_CONTEXT.md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문제는 다목적 제약 최적화다. 택시 예산은 소프트 페널티가 아니라 하드 제약이며, null/unknown/unsupported/0을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C:/Users/lyt20/82TA/src/docs/shared/PROJECT_CONTEXT.md</a:t>
            </a:r>
          </a:p>
          <a:p xmlns:a="http://schemas.openxmlformats.org/drawingml/2006/main">
            <a:r>
              <a:t>- C:/Users/lyt20/82TA/src/packages/routing-domain/src/routing_domain/evaluation.py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아키텍처의 핵심은 독립 배포되는 두 workstream과 단일 private contract다. 기능 소유권을 분리해 사용자 데이터와 경로 계산 데이터를 섞지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C:/Users/lyt20/82TA/src/docs/shared/SYSTEM_ARCHITECTURE.md</a:t>
            </a:r>
          </a:p>
          <a:p xmlns:a="http://schemas.openxmlformats.org/drawingml/2006/main">
            <a:r>
              <a:t>- C:/Users/lyt20/82TA/src/docs/shared/PROJECT_CONTEXT.md</a:t>
            </a:r>
          </a:p>
          <a:p xmlns:a="http://schemas.openxmlformats.org/drawingml/2006/main">
            <a:r>
              <a:t>- C:/Users/lyt20/82TA/src/docs/shared/CONTEXT_MAP.md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요청이 검증, provider fan-in, canonical normalization, time-dependent evaluation, Pareto/ranking, public projection을 거친다. 부분 실패와 과부하를 서로 다른 상태 코드로 표현한다.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C:/Users/lyt20/82TA/src/docs/shared/SYSTEM_ARCHITECTURE.md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- C:/Users/lyt20/82TA/src/services/routing-api/routing_api/composition.py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후보는 허용된 7개 패턴으로 제한한다. production composition은 각 단계의 fan-in과 graph expansion을 120 규모로 제한하며, 초과는 미인증 결과로 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C:/Users/lyt20/82TA/src/packages/routing-domain/src/routing_domain/graph_search.py</a:t>
            </a:r>
          </a:p>
          <a:p xmlns:a="http://schemas.openxmlformats.org/drawingml/2006/main">
            <a:r>
              <a:t>- C:/Users/lyt20/82TA/src/services/routing-api/routing_api/composition.py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quantile에서 ready, start, arrival time을 순차 전파한다. 함수 W_i와 T_i는 실제 entry time을 인수로 받는다. P90이 P50보다 빠르지 않게 정규화하며 Bus Intel wait는 중복 합산하지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C:/Users/lyt20/82TA/src/packages/routing-domain/src/routing_domain/evaluation.py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택시 예산은 upper estimate의 합으로 검증한다. route reliability는 leg reliability의 곱이고, transfer risk는 route unreliability와 환승 여유 기반 위험의 최댓값이다.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C:/Users/lyt20/82TA/src/packages/routing-domain/src/routing_domain/evaluation.py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C:/Users/lyt20/82TA/src/contracts/code-registry.yaml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비-FIFO 네트워크에서는 먼저 도착한 label이 항상 우월하지 않다. 따라서 8개 metric의 multi-label 상태를 유지하며 아주 보수적인 dominance만 적용한다. cap 초과는 completeness failure다.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C:/Users/lyt20/82TA/src/packages/routing-domain/src/routing_domain/graph_search.py</a:t>
            </a:r>
          </a:p>
          <a:p xmlns:a="http://schemas.openxmlformats.org/drawingml/2006/main">
            <a:r>
              <a:t>- C:/Users/lyt20/82TA/src/packages/routing-domain/src/routing_domain/evaluation.py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 가능한 신호만으로 가중평균한다. HIGH는 0.92 이상이며 필수 조건과 blocker 검사를 모두 통과해야 한다. 모호한 top-2는 review queue로 보낸다.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C:/Users/lyt20/82TA/src/packages/provider-core/src/provider_core/transport_mapping/scoring.py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C:/Users/lyt20/82TA/src/docs/shared/PROVIDER_CAPABILITY_MATRIX.md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ETA가 180초 이내면 우선하고, 아니면 위치 모델·역사 headway 순으로 대체한다. 사용자 도착시각보다 늦게 오는 차량만 후보이며 SEATED 서비스만 잔여좌석 기반 boardability를 계산한다.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C:/Users/lyt20/82TA/src/packages/bus-intelligence-core/src/bus_intelligence_core/engine.py</a:t>
            </a:r>
          </a:p>
          <a:p xmlns:a="http://schemas.openxmlformats.org/drawingml/2006/main">
            <a:r>
              <a:t>- C:/Users/lyt20/82TA/src/packages/provider-core/src/provider_core/transport_mapping/scoring.py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차량을 탈 확률 mass를 순차 배분한다. 앞 차량을 못 탈 확률이 다음 차량으로 전달된다. 남은 mass는 보수적 tail wait에 배정한다. 예시는 expected 9분, P90 12분이다.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C:/Users/lyt20/82TA/src/packages/bus-intelligence-core/src/bus_intelligence_core/engine.py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정확 Pareto frontier를 먼저 구한 다음 근소한 차이를 ε로 정리한다. ε-dominance는 cycle을 만들 수 있어 SCC collapse가 필요하다. FASTEST와 public-transit anchor는 exact feasible set에서 고른다.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C:/Users/lyt20/82TA/src/packages/routing-domain/src/routing_domain/pareto.py</a:t>
            </a:r>
          </a:p>
          <a:p xmlns:a="http://schemas.openxmlformats.org/drawingml/2006/main">
            <a:r>
              <a:t>- C:/Users/lyt20/82TA/src/packages/routing-domain/src/routing_domain/ranking.py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FASTEST, STABLE, EFFICIENT, PUBLIC_TRANSIT_ONLY는 목적이 다르다. STABLE은 reliability floor와 보수적 시간, EFFICIENT는 추가비용 대비 절약시간, PT_ONLY는 무택시 anchor다.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C:/Users/lyt20/82TA/src/packages/routing-domain/src/routing_domain/ranking.py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C:/Users/lyt20/82TA/src/contracts/code-registry.yaml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hard deadline은 6.5초이며 5.35초 작업과 1.15초 reserve로 나눈다. 선택 기능부터 shed하지만 예산·chronology·mapping correctness는 절대 완화하지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C:/Users/lyt20/82TA/src/docs/shared/NFR_SLO.md</a:t>
            </a:r>
          </a:p>
          <a:p xmlns:a="http://schemas.openxmlformats.org/drawingml/2006/main">
            <a:r>
              <a:t>- C:/Users/lyt20/82TA/src/services/routing-api/routing_api/composition.py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브라우저가 호출하는 핵심 route-search API다. Service가 세션, history 저장, 공개 가능한 projection을 소유한다. required idempotency key와 명시적 부분 실패 상태가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- C:/Users/lyt20/82TA/src/contracts/openapi/common-components.v1.yaml</a:t>
            </a:r>
          </a:p>
          <a:p xmlns:a="http://schemas.openxmlformats.org/drawingml/2006/main">
            <a:r>
              <a:t>- C:/Users/lyt20/82TA/src/docs/shared/API_CONTRACT_GUIDE.md</a:t>
            </a:r>
          </a:p>
          <a:p xmlns:a="http://schemas.openxmlformats.org/drawingml/2006/main">
            <a:r>
              <a:t>- C:/Users/lyt20/82TA/src/contracts/code-registry.yaml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optimize API는 service JWT와 correlation/deadline/idempotency header를 강제한다. 저장소 contract set, OpenAPI metadata, wire compatibility family는 서로 다른 버전 층위다.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- C:/Users/lyt20/82TA/src/contracts/openapi/common-components.v1.yaml</a:t>
            </a:r>
          </a:p>
          <a:p xmlns:a="http://schemas.openxmlformats.org/drawingml/2006/main">
            <a:r>
              <a:t>- C:/Users/lyt20/82TA/src/docs/shared/API_CONTRACT_GUIDE.md</a:t>
            </a:r>
          </a:p>
          <a:p xmlns:a="http://schemas.openxmlformats.org/drawingml/2006/main">
            <a:r>
              <a:t>- C:/Users/lyt20/82TA/src/contracts/CONTRACT_LOCK.json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로컬 E2E에서 실제 호출이 입증된 것은 Kakao transit/walk/directions다. 나머지는 adapter가 있어도 capability gate와 운영 승인 없이 활성화하지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C:/Users/lyt20/82TA/src/docs/shared/PROVIDER_CAPABILITY_MATRIX.md</a:t>
            </a:r>
          </a:p>
          <a:p xmlns:a="http://schemas.openxmlformats.org/drawingml/2006/main">
            <a:r>
              <a:t>- C:/Users/lyt20/82TA/src/packages/provider-core/src/provider_core/named.py</a:t>
            </a:r>
          </a:p>
          <a:p xmlns:a="http://schemas.openxmlformats.org/drawingml/2006/main">
            <a:r>
              <a:t>- C:/Users/lyt20/82TA/src/services/routing-api/routing_api/composition.py</a:t>
            </a:r>
          </a:p>
          <a:p xmlns:a="http://schemas.openxmlformats.org/drawingml/2006/main">
            <a:r>
              <a:t>- C:/Users/lyt20/82TA/_workspace/integration/STATUS.md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저장소 증거는 로컬 Docker에서 Kakao 기반 baseline 체인이 실제 동작한다는 수준이다. 결과가 PARTIAL인 이유도 공개한다. AWS와 비-Kakao live 연동은 검증되지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C:/Users/lyt20/82TA/_workspace/integration/STATUS.md</a:t>
            </a:r>
          </a:p>
          <a:p xmlns:a="http://schemas.openxmlformats.org/drawingml/2006/main">
            <a:r>
              <a:t>- C:/Users/lyt20/82TA/_workspace/routing-intelligence/STATUS.md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메시지는 chronology, evidence gate, contract-driven honesty 세 가지다. 이 세 축이 단순 provider wrapper와 구분되는 핵심이다.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C:/Users/lyt20/82TA/src/docs/shared/PROJECT_CONTEXT.md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C:/Users/lyt20/82TA/src/docs/shared/SYSTEM_ARCHITECTURE.md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API 30개 중 인증·세션·장소·경로·선호·저장 장소 시작 부분 15개다. operationId와 사용자 기능을 같이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- C:/Users/lyt20/82TA/src/docs/shared/API_CONTRACT_GUIDE.md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API 나머지 15개로 즐겨찾기, 동의, 데이터 export/deletion, capability, health를 포함한다. deleteMyData는 deprecated alias다.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- C:/Users/lyt20/82TA/src/docs/shared/API_CONTRACT_GUIDE.md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API는 7개 operation이다. optimize 외에 capability, health, version, cache/model admin endpoint를 포함하며 liveness만 인증 예외다.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- C:/Users/lyt20/82TA/src/contracts/openapi/common-components.v1.yaml</a:t>
            </a:r>
          </a:p>
          <a:p xmlns:a="http://schemas.openxmlformats.org/drawingml/2006/main">
            <a:r>
              <a:t>- C:/Users/lyt20/82TA/src/docs/shared/API_CONTRACT_GUIDE.md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Kakao와 브라우저 API의 endpoint별 사용 목적이다. Transit/Walk/Directions 세 가지는 로컬 live 증거가 있고, Local/Maps는 구현됐으나 키·도메인 설정에 의존한다. multi/future directions는 live 미검증이다.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C:/Users/lyt20/82TA/src/packages/provider-core/src/provider_core/named.py</a:t>
            </a:r>
          </a:p>
          <a:p xmlns:a="http://schemas.openxmlformats.org/drawingml/2006/main">
            <a:r>
              <a:t>- C:/Users/lyt20/82TA/src/services/service-api/service_api/adapters/kakao_local.py</a:t>
            </a:r>
          </a:p>
          <a:p xmlns:a="http://schemas.openxmlformats.org/drawingml/2006/main">
            <a:r>
              <a:t>- C:/Users/lyt20/82TA/src/apps/web/src/components/RouteMap.tsx</a:t>
            </a:r>
          </a:p>
          <a:p xmlns:a="http://schemas.openxmlformats.org/drawingml/2006/main">
            <a:r>
              <a:t>- C:/Users/lyt20/82TA/src/docs/shared/PROVIDER_CAPABILITY_MATRIX.md</a:t>
            </a:r>
          </a:p>
          <a:p xmlns:a="http://schemas.openxmlformats.org/drawingml/2006/main">
            <a:r>
              <a:t>- C:/Users/lyt20/82TA/_workspace/integration/STATUS.md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비-Kakao Provider의 endpoint와 활용 목적이다. GBIS location/station과 GITS는 URL이 없어 비활성화하며 임의 endpoint를 추측하지 않는다. fallback은 Kakao, TMAP, ODsay 순이다.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C:/Users/lyt20/82TA/src/packages/provider-core/src/provider_core/named.py</a:t>
            </a:r>
          </a:p>
          <a:p xmlns:a="http://schemas.openxmlformats.org/drawingml/2006/main">
            <a:r>
              <a:t>- C:/Users/lyt20/82TA/src/docs/shared/PROVIDER_CAPABILITY_MATRIX.md</a:t>
            </a:r>
          </a:p>
          <a:p xmlns:a="http://schemas.openxmlformats.org/drawingml/2006/main">
            <a:r>
              <a:t>- C:/Users/lyt20/82TA/src/services/routing-api/routing_api/composition.py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치트시트는 전 계약에서 공통으로 지켜야 할 단위, 시간, missingness, failure, provenance 불변식을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C:/Users/lyt20/82TA/src/docs/shared/PROJECT_CONTEXT.md</a:t>
            </a:r>
          </a:p>
          <a:p xmlns:a="http://schemas.openxmlformats.org/drawingml/2006/main">
            <a:r>
              <a:t>- C:/Users/lyt20/82TA/src/docs/shared/PRD.md</a:t>
            </a:r>
          </a:p>
          <a:p xmlns:a="http://schemas.openxmlformats.org/drawingml/2006/main">
            <a:r>
              <a:t>- C:/Users/lyt20/82TA/src/contracts/openapi/service-public.v1.yaml</a:t>
            </a:r>
          </a:p>
          <a:p xmlns:a="http://schemas.openxmlformats.org/drawingml/2006/main">
            <a:r>
              <a:t>- C:/Users/lyt20/82TA/src/contracts/openapi/routing-private.v1.yaml</a:t>
            </a:r>
          </a:p>
          <a:p xmlns:a="http://schemas.openxmlformats.org/drawingml/2006/main">
            <a:r>
              <a:t>- C:/Users/lyt20/82TA/src/contracts/code-registry.yaml</a:t>
            </a:r>
          </a:p>
          <a:p xmlns:a="http://schemas.openxmlformats.org/drawingml/2006/main">
            <a:r>
              <a:t>- C:/Users/lyt20/82TA/src/contracts/CONTRACT_LOCK.json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e21d8e6024b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61f39172dd49f6" /><Relationship Type="http://schemas.openxmlformats.org/officeDocument/2006/relationships/slideLayout" Target="/ppt/slideLayouts/slideLayout1.xml" Id="Ra0eb3c1c6b3a45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eb3c1c6b3a45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fb9baf4ec42db" /><Relationship Type="http://schemas.openxmlformats.org/officeDocument/2006/relationships/notesSlide" Target="/ppt/notesSlides/notesSlide1.xml" Id="R67b2700d0dc941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4f5bf83574ba5" /><Relationship Type="http://schemas.openxmlformats.org/officeDocument/2006/relationships/notesSlide" Target="/ppt/notesSlides/notesSlide2.xml" Id="R806b5555f62f48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6be920ec14296" /><Relationship Type="http://schemas.openxmlformats.org/officeDocument/2006/relationships/notesSlide" Target="/ppt/notesSlides/notesSlide3.xml" Id="Rb544e043728f49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dc2af2da54767" /><Relationship Type="http://schemas.openxmlformats.org/officeDocument/2006/relationships/notesSlide" Target="/ppt/notesSlides/notesSlide4.xml" Id="Rdd9d8d8bc8b04a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7b5dc868d4713" /><Relationship Type="http://schemas.openxmlformats.org/officeDocument/2006/relationships/notesSlide" Target="/ppt/notesSlides/notesSlide5.xml" Id="Ra413c6116a6747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f1182356d477a" /><Relationship Type="http://schemas.openxmlformats.org/officeDocument/2006/relationships/notesSlide" Target="/ppt/notesSlides/notesSlide6.xml" Id="R711220573ac546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fa93238744241" /><Relationship Type="http://schemas.openxmlformats.org/officeDocument/2006/relationships/notesSlide" Target="/ppt/notesSlides/notesSlide7.xml" Id="R6092a04fc56b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c9ad28b284485" /><Relationship Type="http://schemas.openxmlformats.org/officeDocument/2006/relationships/notesSlide" Target="/ppt/notesSlides/notesSlide8.xml" Id="R34949082080946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7b405f36f4a3e" /><Relationship Type="http://schemas.openxmlformats.org/officeDocument/2006/relationships/notesSlide" Target="/ppt/notesSlides/notesSlide9.xml" Id="R23111680ceed48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beb5a653b4ed6" /><Relationship Type="http://schemas.openxmlformats.org/officeDocument/2006/relationships/notesSlide" Target="/ppt/notesSlides/notesSlide10.xml" Id="Rec1da5746f6649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7b916e78a4422" /><Relationship Type="http://schemas.openxmlformats.org/officeDocument/2006/relationships/notesSlide" Target="/ppt/notesSlides/notesSlide11.xml" Id="Rd307ffd932fa41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f631de6824159" /><Relationship Type="http://schemas.openxmlformats.org/officeDocument/2006/relationships/notesSlide" Target="/ppt/notesSlides/notesSlide12.xml" Id="Rf6da918c5ced4b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957dcadfb41c8" /><Relationship Type="http://schemas.openxmlformats.org/officeDocument/2006/relationships/notesSlide" Target="/ppt/notesSlides/notesSlide13.xml" Id="Ra13b9d48acbc45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1dfd7ee364083" /><Relationship Type="http://schemas.openxmlformats.org/officeDocument/2006/relationships/notesSlide" Target="/ppt/notesSlides/notesSlide14.xml" Id="R4b04221d57044e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1896fa1ca4523" /><Relationship Type="http://schemas.openxmlformats.org/officeDocument/2006/relationships/notesSlide" Target="/ppt/notesSlides/notesSlide15.xml" Id="R3b6bd2c527b14b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36862d4fe4d13" /><Relationship Type="http://schemas.openxmlformats.org/officeDocument/2006/relationships/notesSlide" Target="/ppt/notesSlides/notesSlide16.xml" Id="Rc84b57ce8e2448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431980c0b42ae" /><Relationship Type="http://schemas.openxmlformats.org/officeDocument/2006/relationships/notesSlide" Target="/ppt/notesSlides/notesSlide17.xml" Id="R4611d356148547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784573b0546b8" /><Relationship Type="http://schemas.openxmlformats.org/officeDocument/2006/relationships/notesSlide" Target="/ppt/notesSlides/notesSlide18.xml" Id="Ra94be3b535164c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558fc2c984f02" /><Relationship Type="http://schemas.openxmlformats.org/officeDocument/2006/relationships/notesSlide" Target="/ppt/notesSlides/notesSlide19.xml" Id="Rdc6e63bdab2f48f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715ca627e4b98" /><Relationship Type="http://schemas.openxmlformats.org/officeDocument/2006/relationships/notesSlide" Target="/ppt/notesSlides/notesSlide20.xml" Id="R8f30b0facebc4e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7c48f815c4373" /><Relationship Type="http://schemas.openxmlformats.org/officeDocument/2006/relationships/notesSlide" Target="/ppt/notesSlides/notesSlide21.xml" Id="Rd2ada6a49b9f48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1aa1b65f14a65" /><Relationship Type="http://schemas.openxmlformats.org/officeDocument/2006/relationships/notesSlide" Target="/ppt/notesSlides/notesSlide22.xml" Id="R3e7e4e3c1ba646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88ba803944055" /><Relationship Type="http://schemas.openxmlformats.org/officeDocument/2006/relationships/notesSlide" Target="/ppt/notesSlides/notesSlide23.xml" Id="R21bc5fd66f2b47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ad454ca704b23" /><Relationship Type="http://schemas.openxmlformats.org/officeDocument/2006/relationships/notesSlide" Target="/ppt/notesSlides/notesSlide24.xml" Id="R38c336f8fea043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7ac7e0d8140ee" /><Relationship Type="http://schemas.openxmlformats.org/officeDocument/2006/relationships/notesSlide" Target="/ppt/notesSlides/notesSlide25.xml" Id="R78579c71e75a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45096-0EC2-4B36-97BA-3B898968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FDD5-C5F1-45A8-BD99-DAA974D8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21526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F4607-DC3B-4DB0-A4F5-31CECA4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TECHNICAL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E48ED-8DF7-4BBE-8B80-4209646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2397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6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82TA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778F3-28A9-4611-9A63-A5B734A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61436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예산 제약·시간 의존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멀티모달 경로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8BDCF-95E1-4264-A420-82DB925F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주요 알고리즘 · API 명세 · 외부 Provider 활용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7762875" y="1066800"/>
            <a:ext cx="95" cy="45910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D1D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5E986-B691-4BAB-BF37-0B6F9367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57325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36BC1-F687-4DCE-B1E8-C1BA0FD3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4310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Time-dependent search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Bus Intelligence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Pareto + policy 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AD5A8-9463-47EC-BB96-1A928647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29025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CONTRACTS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25F69-35A3-42C3-9456-55C2C28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Public API 30 ops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Private Routing API 7 ops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Provider capability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E4B56-F8F2-4EA9-8CC8-92CE9034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Contract set 1.4.0  ·  2026.08</a:t>
            </a:r>
          </a:p>
        </p:txBody>
      </p:sp>
    </p:spTree>
    <p:extLst>
      <p:ext uri="{BB962C8B-B14F-4D97-AF65-F5344CB8AC3E}">
        <p14:creationId xmlns:p14="http://schemas.microsoft.com/office/powerpoint/2010/main" val="1732891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C85B15-1160-461C-AC49-3081728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5F25A-686A-4D9C-ADD9-AE8077ED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우리가 푸는 문제: ‘가장 빠름’만으로는 부족하다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679B9-D1E1-4C29-9630-449D94B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FB867-FCF4-4840-8D7C-DF1B1F73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2E9E-4125-4972-983D-D024C6CF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F634-A798-4F5B-8CC5-18C0F89D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8196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min  ( D₀.₅ , D₀.₉ , Cᵗᵃˣⁱᵘᵖᵖᵉʳ , W , ρ )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subject to   Cᵗᵃˣⁱᵘᵖᵖᵉʳ ≤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F47D8-6D6F-4725-929F-0AA70C34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D₀.₅ / D₀.₉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2E2CC-8408-483F-9A6E-8BEBC31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6232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평균적·보수적 도착시간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84DDA-1A20-4EA9-886B-17932A2A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3D8DFF"/>
                </a:solidFill>
                <a:latin typeface="Cambria Math"/>
                <a:ea typeface="Cambria Math"/>
                <a:cs typeface="Cambria Math"/>
              </a:rPr>
              <a:t>Cᵗᵃˣⁱᵘᵖᵖᵉʳ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7DC1-BF2D-49B3-B810-DF8AA1F1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1000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택시비 상한의 합 — 엄격 예산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5E6F8-3BE3-48B1-982C-03157C97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 / 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BCCC7-18E3-403B-A09D-26E6E635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576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도보시간 / 환승 실패 위험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0B42-2107-4EC2-9A4D-5B757D2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66850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6C0DE-D9B1-4298-8385-75E90133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668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8091C-463A-4921-AFD3-CE2CBF6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① 시간 의존성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DE81C-59A2-499D-B4E3-CC514DA3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002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같은 이동수단도 실제 진입 시각에 따라 대기·주행시간이 달라진다.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C1152-FB32-4650-B984-34FF840E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66850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76BAB-42C0-42DC-B245-F408E70A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668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C905C-5EC2-4968-BD77-16451659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383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② 불확실성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030A5-2292-4ADC-B122-9314546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0250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P50 하나가 아니라 P90과 환승 여유를 함께 전파한다.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D09F9-77AD-46EC-81CA-85865146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38475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C8FD4-C513-4FAE-AC8D-F6C3B9D4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3847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79067-66FA-4A26-87E5-89177080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099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③ 승차 가능성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4CAE0-6125-4063-B775-C69F4F1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571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정류장에 도착한 뒤 탈 수 있는 차량과 좌석 위험을 계산한다.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2C6E1-CB6B-41BA-901A-604BA83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724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E4C88-18DB-4BE1-B208-F3F7D7E3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DF8AC-C7F8-4C01-9CA5-C4FBCE08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99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④ 상업적 정직성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DE2E3-8304-4573-A552-31514F8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71875"/>
            <a:ext cx="2324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모르는 값은 0이 아니다. 누락·부분 실패·미지원 상태를 명시한다.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F830BC-1333-49A7-9E06-87C17A30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19650"/>
            <a:ext cx="57245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결과는 하나의 점수가 아니라 FASTEST · STABLE · EFFICIENT · PUBLIC_TRANSIT_ONLY로 설명 가능해야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1095741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117B82-B805-493D-BACC-8F024B6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188A6-9DF4-4314-BBBB-0DF2AB38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두 개의 배포 경계, 하나의 내부 계약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AE21-9443-4A4E-8E4A-A9E2274E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9F208-573D-4460-814E-C8D6211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76852-552A-43A7-B2C0-8BF8B19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019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AD05-8C21-4B50-B7C5-E428A318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81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E9F95-0BD6-4B96-857B-A241DF10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2381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159A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7885A-5F3D-43CA-BAF9-A41A54FA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52625"/>
            <a:ext cx="1828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9850" y="27336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91200" y="27336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972550" y="273367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9A6E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7E5BF-50C8-442D-B845-0C1C8CB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React Web/PWA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851CA-8ED6-4A27-AF12-BDECB695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638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입력 · 지도 · 추천 카드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Public API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CB0E5-B98E-4720-B5F4-8C244A07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Django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48D3F-C11B-45F2-BC49-475B746D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인증 · 장소 · 기록 · 즐겨찾기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Public-safe projection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6D42C-0273-4653-8429-30E875B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Django Routing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E784E-CBCE-4287-98B4-48CD6E96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Provider · Mapping · Bus Intel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Optimization ·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03785-2AD4-4204-B2DB-EF881451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External / Models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A6DEA-DA73-49F9-BC9D-C2822EE9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051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Kakao · GBIS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KMA · TMAP · ODsay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16944-73C0-4960-98BC-FE372632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657350"/>
            <a:ext cx="933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D310A-478D-4F20-B797-9B12C7D7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8592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PUBLIC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6C63E-4849-4B41-BC03-23DFC37A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43325"/>
            <a:ext cx="32099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30689-0701-4CAC-95E2-BDFB26A2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771900"/>
            <a:ext cx="3057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POST /v1/routes/optimize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B6A4D-EFA1-4939-B126-0D24562F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65735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A99F8-6D42-41FB-883E-9DD91655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859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PRIVATE + JWT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6191250" y="1333500"/>
            <a:ext cx="95" cy="383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B8492"/>
            </a:solidFill>
            <a:prstDash val="dash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89ED0B-D91B-475E-8128-3480A836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81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SERVICE PRODUCT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8FF5A-4D54-46D0-9763-9010725D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ROUTING &amp; INTELLIGENCE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68EDF-313C-4093-A709-BA6AB4E2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86375"/>
            <a:ext cx="100774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47DD4-AEA8-4DF4-8917-9830195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86375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CCED9C-EFFC-4F36-B2D6-C2020902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4959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경계 불변식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55064-CA9C-408F-8C9B-90DD465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67350"/>
            <a:ext cx="782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브라우저→Routing 직접 호출 금지 · Service의 Provider 조율 금지 · Routing의 사용자 ID/즐겨찾기 소유 금지</a:t>
            </a:r>
          </a:p>
        </p:txBody>
      </p:sp>
    </p:spTree>
    <p:extLst>
      <p:ext uri="{BB962C8B-B14F-4D97-AF65-F5344CB8AC3E}">
        <p14:creationId xmlns:p14="http://schemas.microsoft.com/office/powerpoint/2010/main" val="1717312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86BBD1-748E-4831-A6D2-BBB807C6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A82B1-C3CD-4E9D-BCF1-E78BF7A3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한 요청이 추천으로 바뀌는 6단계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8E7BC-2EC8-487D-B6DB-9825DFEA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24D2C-4D3D-4F65-98A7-85667429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4DBFA-7C51-47CB-935C-E7A76726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0A4B2-436A-4E2F-A0A0-35DF5EA4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D7C24-5D37-4F84-A1D3-17712810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B12E5-940B-435F-BAD4-E0D4EEF4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1E12F-C180-4931-8F21-821D9AA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07595-A3C9-4605-911E-9E072AAA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152650"/>
            <a:ext cx="1552575" cy="20383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09775" y="3171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3171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00725" y="3171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96200" y="3171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91675" y="31718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E3801-8A5A-4334-BA46-4A09216B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1F22E-1CE7-478D-9A27-C5D8A9A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입력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2C239-6103-4224-A05A-8657F49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좌표·시각·예산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Idempotency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Deadline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D3ADA-0D91-4592-823A-9DBBE4A2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FB417-38A3-43F7-A946-76333B9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Provider fan-in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A1D97-21FB-4DFF-92F8-AF748C95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Transit·Walk·Taxi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capability +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F5D0E-A72B-4E73-9188-CD2C5609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A6BF6-669B-47CA-9FB6-8076395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Canonical 정규화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FCDD7-D434-48D3-83AE-1C3E04D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공통 leg/route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route-stop mapping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B91EE-C36E-4BD1-97BF-AD2846E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74065-A2E2-4B8A-AA24-F1E472F6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시간 의존 평가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92289-C91A-4416-BBA5-08C17579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P50/P90 전파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Bus Intel·strict budget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AE370-43C4-4C1C-9F9F-D13FAD1A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E7097-8ACD-40D0-8F11-2087F52E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Pareto + Ranking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0EC66-1103-4FAE-9F7A-F2522D4D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정확 frontier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4개 정책 추천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6F06C-CDEF-4CFF-AF21-73F862E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3431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BAF41-B0A3-41AE-B3F9-1309298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828925"/>
            <a:ext cx="1209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Public 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9B5DA-8CD3-4C28-BC79-CC7BCCAF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476625"/>
            <a:ext cx="12096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민감 provenance 제거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PARTIAL·warnings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BDF3E3-D3BF-4559-A5FA-19911179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실패는 숨기지 않는다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4DBC86-757B-43F0-B398-4B215FCE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선택 기능 실패 → PARTIAL   ·   필수 Provider 불가 → 503   ·   내부 deadline 초과 → 504   ·   탐색 cap 초과 → 429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C10288-1874-482E-957D-A0EA63C3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43575"/>
            <a:ext cx="5905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04DB7-3E89-49A2-B76C-1E6B3909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72150"/>
            <a:ext cx="575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모든 단계가 provider · model · mapping · ranking provenance를 보존</a:t>
            </a:r>
          </a:p>
        </p:txBody>
      </p:sp>
    </p:spTree>
    <p:extLst>
      <p:ext uri="{BB962C8B-B14F-4D97-AF65-F5344CB8AC3E}">
        <p14:creationId xmlns:p14="http://schemas.microsoft.com/office/powerpoint/2010/main" val="582583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A40E28-BEA1-4BC9-A7DE-7C86194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 · CANDIDATE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33010-AE5B-4EC0-8157-54E68EE0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후보 생성: 허용 패턴을 열거하고 탐색 폭을 제한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38343-735A-42CD-825A-E6AE26B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57322-1D0C-42EF-9820-FAE307F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37707-6CF2-4CFE-BFAD-9C8FDFD2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허용 멀티모달 패턴 7종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28B5D-EE35-4DEA-BD14-8A35DE9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2AE69-7B29-4AE6-B27B-6194E29B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71650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TRANSIT_ONLY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86E1F-E3E0-45C9-8AFE-CDDC528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PT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514350" y="2143125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44153-8241-4110-8A73-3B6D071A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145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A6515-E9EF-4573-A49C-0FAB613B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9552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TAXI_TRANSIT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4626B-2D28-49A1-9D74-FD49A21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9552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TAXI → PT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514350" y="2667000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F6F64-4121-4D3D-B1CE-D85DE74F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236F-335A-4867-803C-708D2B47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19400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TRANSIT_TAXI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CE444-D65B-4596-91BD-C29AB6DA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PT → TAXI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514350" y="3190875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3E3DA-DB6A-4AD9-96E3-CCEE4D4D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5227B-B74E-4ECF-8881-FBB339E9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4327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TAXI_TRANSIT_TAXI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56D1D-A56C-4591-878D-859E11EE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TAXI → PT → TAXI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514350" y="3714750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342AC-79BD-4F97-9355-351AC88A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ED3A2-847E-4B91-895E-662AADB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67150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TAXI_ONLY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B38A4-5FFE-488A-B415-9D192710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6715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TAXI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514350" y="4238625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D1A7A-6444-451B-A532-7B5514F9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0D645-8C8A-4477-83AE-ACBBDA7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91025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TRANSIT_TAXI_BRIDGE_TRANSIT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C1A825-3A92-4C6B-9858-5C31A4A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91025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PT → TAXI → PT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514350" y="4762500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2746A1-00A7-4F58-A945-72A7DE97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C5C6F4-B056-4988-9FDD-C703EAFC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14900"/>
            <a:ext cx="3476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UPSTREAM_STOP_TAXI_TRANSIT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30DDE-1BC6-43E7-9BEB-496DD51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14900"/>
            <a:ext cx="2133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TAXI → 상류 정류장 → PT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514350" y="5286375"/>
            <a:ext cx="6305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E38C4-534A-4358-8992-D2DB5C61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62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운영 fan-in / graph cap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A93CC9-3835-4D7E-AAAD-38318C7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24025"/>
            <a:ext cx="1924050" cy="2000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BEAE7-9B0D-414B-985B-01214A8F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57375"/>
            <a:ext cx="15049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N_provider ≤ 64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N_exact taxi ≤ 30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N_bus-intel ≤ 16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N_combo ≤ 120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579303-E2B7-4DC6-A3E0-6D4CE01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24025"/>
            <a:ext cx="1924050" cy="20002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109EB4-343F-4E00-81CF-D33DBC9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57375"/>
            <a:ext cx="15049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expansions ≤ 120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labels ≤ 120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complete paths ≤ 120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legs ≤ 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5AE92-BF02-454F-B137-4C097973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67175"/>
            <a:ext cx="4057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CD6F81-9161-41B8-BF61-724E5BAC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67175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FAB1A8-8A34-4510-AB1F-B7405425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왜 bounded인가?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010A1F-4952-4E28-9DCA-4B8D7E0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00575"/>
            <a:ext cx="365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외부 API 비용·응답시간·조합 폭발을 통제한다. cap 안에서만 완전성을 주장하고, 초과 시 ‘경로 없음’이 아니라 capacity 429로 반환한다.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9498B9-19AA-4AE6-9B07-098097A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388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정확성 범위 = 실제 도로망 전체가 아니라 Provider가 제공한 유한 canonical payload graph</a:t>
            </a:r>
          </a:p>
        </p:txBody>
      </p:sp>
    </p:spTree>
    <p:extLst>
      <p:ext uri="{BB962C8B-B14F-4D97-AF65-F5344CB8AC3E}">
        <p14:creationId xmlns:p14="http://schemas.microsoft.com/office/powerpoint/2010/main" val="2072085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1E0E3-2C4B-4D03-AFEB-FCBEE6D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TIME-DEPENDENT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BD7A3-DF2E-4F07-8026-4D78A209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①: leg 진입 시각을 전파하는 시간 의존 평가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E1ABF-CC50-405B-92EC-0A2540D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0A7D6-28E9-4E36-8119-0E904C55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CF386-A266-4172-800F-40C94436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619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A5138-DEE3-4EBB-A7F0-9033E0E9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006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rᵢ,q = Aᵢ₋₁,q + τᵗʳᵃⁿˢᶠᵉʳᵢ,q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Sᵢ,q = rᵢ,q + Wᵢ(rᵢ,q)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Aᵢ,q = Sᵢ,q + Tᵢ(Sᵢ,q)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Dq = Aₙ,q − t₀      (q ∈ {0.5, 0.9})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62921-A11C-449B-9390-4B57417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00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핵심: W와 T는 ‘출발 시각’이 아니라 각 leg에 실제 도착한 시각으로 다시 계산한다.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8913D-1BB6-41FA-AFCA-46A5A14D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1266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6A911-A5F3-4F56-9BD3-30D36CA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47850"/>
            <a:ext cx="1266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6DCC5-692C-4E32-B90C-DF0B8C3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847850"/>
            <a:ext cx="12668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924800" y="2238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77400" y="2238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2E36B-A1DD-4A7A-A12F-C863CF9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66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B6DD8-8DBE-4E4C-91F3-3D978A30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66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버스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3BF6D-6549-4F67-8FD4-0D8CCAD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0669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지하철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32D4E-0882-40E0-823D-C07C2C00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8BA59-9496-45CA-A1CA-35B1341F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9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08:12 → 대기 재조회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FE824-FF78-4619-9383-412556D6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9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08:37 → 환승 여유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5DF2A-2314-4988-A0AD-7CBA00D7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33775"/>
            <a:ext cx="477202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E2BF8-F9E4-4FA8-9403-F8A5260B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5337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BF7C8-4544-449C-AAD4-C090233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05225"/>
            <a:ext cx="437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P50 / P90를 별도로 전파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24A04B-9850-4ACD-901F-465726E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67175"/>
            <a:ext cx="4371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P90 시작은 P50보다 빠를 수 없고, Aᵢ,0.9 = max(raw Aᵢ,0.9, Aᵢ,0.5)로 순서를 보장한다.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C2888-A618-42DE-B792-5067EFF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972050"/>
            <a:ext cx="47720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A19C3-28DF-4F04-A4E4-972222A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972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4974C-6369-4A7C-9182-5F844B34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43500"/>
            <a:ext cx="4371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중복 대기 방지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0B3D9-3A68-48CD-99C7-5833043A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5450"/>
            <a:ext cx="4371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Bus Intelligence가 대기시간을 제공하면 Provider/schedule wait를 다시 더하지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35285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9CCD2-E61C-427A-A713-07DF5864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04 · 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949D9-1CF2-48B3-84C5-E438355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②: 예산·환승·신뢰도를 하드하게 검증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6060-2E7D-4F91-9329-943138C5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C2CA-0855-41A3-A595-4808CD89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3E69F-D9E5-42FB-9444-D5C246E9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33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5ACF4-5212-490D-921D-6B3E2466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9149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Cᵗᵃˣⁱᵘᵖᵖᵉʳ(route) = Σₗ∈TAXI Cᵘᵖᵖᵉʳₗ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feasible ⇔ Cᵗᵃˣⁱᵘᵖᵖᵉʳ ≤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7F717-7C7B-4560-B7DF-3F06EE8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5334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F40F7-2F4F-4883-93B9-C431B69E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575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30350-8A84-4317-A97E-260AAFB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엄격 예산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09B9-5BE9-49C6-97E8-992DDED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4933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예상요금이 아니라 각 택시 leg의 상한을 합한다. 상한을 모르면 0으로 간주하지 않고 후보를 거절한다.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D9F42-FAA0-49BE-8558-E2BBC930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38275"/>
            <a:ext cx="56673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C35F9-8EA6-4247-A9D7-1CFA741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2482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R(route) = ∏ₗ Rₗ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ρ = max(1 − R,  maxⱼ 1/(1 + m⁹⁰ⱼ/60))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77E46-6059-4410-9B16-B351DCE4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57525"/>
            <a:ext cx="5667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A0C02-E5F4-456C-ACA0-76F851D1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57525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EC1D5-8F70-4E85-B014-D144DDC5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28975"/>
            <a:ext cx="5267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환승 가능성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EF2A9-6A4D-4E10-A9C2-FC5F135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90925"/>
            <a:ext cx="5267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m⁹⁰는 P90 기준 환승 여유. 놓친 뒤 다음 서비스 증거가 없으면 TRANSFER_INFEASIBLE로 제거한다.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BF3FC-A799-4C9F-AA04-65D569C7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38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동시에 적용되는 불변식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83B84E-8439-4E60-868D-6D680326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C8E75-1562-4A2F-A45B-FA632F5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577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WALK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70381-EA5C-45C9-8D45-CD2FF4C1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총 도보시간 ≤ 사용자 한도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3249D-8B5A-4FA0-AF1B-33E42C36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0292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C8307-9F6C-4CF3-9DC3-A61A6496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0577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1C820-E4BE-40E0-834F-E074787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410200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환승 횟수·여유시간 ≤ 정책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FBC71-4F12-4544-9902-1ED101CF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292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613D9-BA4D-48AD-AFCF-7637CE39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577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TAXI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3341D-9E65-4AFB-81F6-45A730D4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10200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택시 leg 수·상한 예산 ≤ 제약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35C308-9994-48CB-80A8-8D347BE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029200"/>
            <a:ext cx="952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099848-1B03-437A-B65B-89D62F46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57775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MODE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CA394-4A95-435A-86D7-3D2D9D7C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410200"/>
            <a:ext cx="242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허용 모드·패턴만 탐색</a:t>
            </a:r>
          </a:p>
        </p:txBody>
      </p:sp>
    </p:spTree>
    <p:extLst>
      <p:ext uri="{BB962C8B-B14F-4D97-AF65-F5344CB8AC3E}">
        <p14:creationId xmlns:p14="http://schemas.microsoft.com/office/powerpoint/2010/main" val="1705402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71D13-648F-4F8B-84B5-93F87053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05 · GRAPH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11449-3796-4EB7-975F-E8B9C5AF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③: 비-FIFO 시간 의존 multi-label graph search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CE492-A5AE-4A05-BED0-895ADDB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43188-C122-42BB-8740-B3F4AC6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D465C-D9FE-4245-9BB0-AD59C0C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143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E4DED-DACF-4F57-BF9D-61F7699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72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 = [ D₀.₅, D₀.₉, Cᵗᵃˣⁱᵘᵖᵖᵉʳ, W, Nₓ, Nₜₐₓᵢ, ρ, −R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87CBD-BC9D-4BD3-BE16-285C771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왜 단일 최단경로가 아닌가?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3A280-5A70-4FEB-A1A0-DA100C70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6629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• 늦게 도착한 label이 더 좋은 버스·환승을 만날 수 있음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• 비용·도보·위험이 서로 상충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• 같은 노드라도 pattern state와 방문 집합이 다름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3AA61-FAC2-48B4-8F62-BA91506F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7143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881D5-7EA4-4351-B835-2A9E4B1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6FEB7-69AC-455B-A836-2F6386F8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674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안전한 dominance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01F32-CFF1-49A1-A0A9-0FC9F81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6743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P50/P90가 같고 · pattern state가 같고 · visited-set이 부분집합이며 · 나머지 metric이 모두 no-worse이고 하나는 strict일 때만 label을 제거한다.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EDB88-2B14-46C4-8010-FB19D07F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38275"/>
            <a:ext cx="3752850" cy="430530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9CE78-022F-42E0-A21C-4AB76423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CERTIFIED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6590E-FEFE-4340-8E68-3497F1F6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19325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탐색 중 즉시 prune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C4349-DA85-4986-A3C4-2E454B82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30861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 cycle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 허용되지 않은 pattern/mode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 strict budget 초과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 도보·환승·택시 leg 한도 초과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324850" y="4400550"/>
            <a:ext cx="28956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7B8492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8A89F-7457-45AF-A30B-5047DBD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rPr>
              <a:t>cap 초과 ≠ 경로 없음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5DD321-65EE-4C75-9812-2596E1F1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95875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capacity 429 + uncertified</a:t>
            </a:r>
          </a:p>
        </p:txBody>
      </p:sp>
    </p:spTree>
    <p:extLst>
      <p:ext uri="{BB962C8B-B14F-4D97-AF65-F5344CB8AC3E}">
        <p14:creationId xmlns:p14="http://schemas.microsoft.com/office/powerpoint/2010/main" val="1869011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762766-17BE-4FE6-BE8C-26BE64AA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06 · TRANSPORT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5F2E0-B417-4BA2-882E-767E869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④: Provider BUS leg를 canonical route·stop으로 매핑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89D7-26F4-4CF4-9613-D67EBD74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56BB2-71D3-4426-AEFF-859BC505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8365C-F370-4C0D-8BD0-DDAABEE7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541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43371-5B4B-41BF-A0A9-E8B6AB7C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99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5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score =  ( Σₖ∈available wₖ sₖ ) / ( Σₖ∈available wₖ 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A7323-3EE0-4F05-9F28-9E7BB19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5410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B6748-E99C-4ED8-9668-0B3DC3F8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5410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1590675" y="2619375"/>
            <a:ext cx="9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4448175" y="2619375"/>
            <a:ext cx="95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3048000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347662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3905250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4333875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00050" y="4762500"/>
            <a:ext cx="5410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06F18-257E-4242-8850-A789BC70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6700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신호 그룹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00D6D-F3B1-4EF0-BE76-E4C7E47D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신호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05A56-B36F-4793-8EE2-8F04052D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가중치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0ECEF-5B2A-4505-B23F-D15318DE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9562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노선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84E16-70B9-4F81-AE14-58640A41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9562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route name / type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59A2A-EA3C-4BF4-AC47-A514BE0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.16 / .06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9EC2F-2A07-4AD2-A855-9AC10CD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2425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승차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56654-879D-4EA5-8B86-94A2798C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stop name / coordinate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B55DB-541F-499C-8F73-E2325A77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.07 / 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4F917-E1CD-430A-AA89-FA8C516E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5287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하차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96528-0F71-4B5B-A48D-8054BF5C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5287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stop name / coordinate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F1F45-2907-48F8-BEF8-8F532902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5287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.07 / .10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C0F45-8380-44EA-90ED-330DD94E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81500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방향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EA07E-506B-4592-AC3B-894051AD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815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sequence / direction / 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EF42BC-D807-41A4-B84D-F284DADF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.12 / .12 / .08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8C066-FDC1-4F61-92E7-8E83EDD9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1012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보조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CEBC2-9359-42C7-81EB-A5391648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10125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terminals / geometry / live / turning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C55F49-2DA6-48DF-B584-89C81F4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01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.05 / .03 / .01 / .03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EBD3E7-5350-4A39-9BFE-15F4C0B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38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0CD9F-AFAB-440A-81CA-2B9C2050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90700"/>
            <a:ext cx="2562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44D0D-C54C-43C1-9AB1-1F1EA76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907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64618-1AD0-4D26-8476-6F544ACD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62150"/>
            <a:ext cx="2162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HIGH  ≥ 0.92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933297-B360-473E-9663-A5E56FB2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필수 신호 충족 + blocker 없음. 이 상태만 Bus Intelligence 적용 가능.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A8F52E-4D4D-4FAE-9249-125ACC89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90700"/>
            <a:ext cx="2562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0438C-2470-48BD-906A-B70CEDB2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7907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E0A261-1693-49C5-87D7-78C5AA5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62150"/>
            <a:ext cx="2162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MEDIUM  ≥ 0.80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082CAB-8976-4D02-9B61-CD7F2FCB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24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표시·검토 후보. 승차/좌석 추론에는 사용하지 않음.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0BB15C-795E-4F75-BF25-0C92EC3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813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좌표 유사도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E5826B-03B8-44C4-8584-A85291D9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81425"/>
            <a:ext cx="25622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5DF479-1136-4C56-9A8B-27B4FC48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14775"/>
            <a:ext cx="2143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sim(d)=1     d≤30m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sim(d)=0     d≥300m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otherwise linear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51C467-4E95-4C45-876A-DF0411B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81375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Blocker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1EF5ED-082F-44EE-BCFF-CB2F3B56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857625"/>
            <a:ext cx="25622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반대 방향 · branch mismatch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잘못된 stop sequence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validity 밖 · turning mismatch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7740F3-967A-4BD3-BDD7-70392B60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305425"/>
            <a:ext cx="54197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34BFFD-548A-4183-883F-0B24D13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34000"/>
            <a:ext cx="526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Top-2 HIGH score 차이가 0.01 이내면 자동 확정하지 않고 review queue</a:t>
            </a:r>
          </a:p>
        </p:txBody>
      </p:sp>
    </p:spTree>
    <p:extLst>
      <p:ext uri="{BB962C8B-B14F-4D97-AF65-F5344CB8AC3E}">
        <p14:creationId xmlns:p14="http://schemas.microsoft.com/office/powerpoint/2010/main" val="585181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26F733-61C6-4983-8348-7C2ADE3C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07 · BUS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CE678-7091-482E-875D-5CBB5F5D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⑤: 사용자가 도착한 뒤의 차량만 후보로 삼는다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2A098-2A31-4B25-B372-14CA0AA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BB368-41F8-4A85-B9AD-0B03324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38D22-9C16-4B63-8F9E-8A5D8B4F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ETA evidence arbitration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CB5B5-51C8-466B-804D-245FA960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0225"/>
            <a:ext cx="2809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159A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42F1-B8C2-474E-A29D-3E0C4A39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2809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8E6A1-621C-4A2E-8E0B-C66BA6C2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2809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2356B-64DA-4555-B42E-6038FBE4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1  공식 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31B4-5644-4DC7-9A7C-71BA6DB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freshness ≤ 180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67EE5-8F86-46EA-9529-4BB67EF5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2  위치 기반 모델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DA3AF-54C9-4E91-ACDE-CC9BBE67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official stale / missing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8C3D5-DC0C-4158-AB72-5129BFA5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3  역사적 headway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33961-1851-44A1-B734-5084419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2428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그마저 없으면 unknown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E20B8-9CB5-4634-A26E-A0B82596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Temporal causality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AF673-CFBF-4E74-9FF5-97638DC7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00225"/>
            <a:ext cx="3857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A4BF60-5F3E-481D-82CD-D52B8D9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933575"/>
            <a:ext cx="3438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0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candidate i  ⇔  ETAᵢ,0.5  &gt;  t_user@stop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6376C-9531-41B9-B2F5-0DCC7D1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3390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평가 시각 이후 observation 제거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vehicle별 최신 observation만 유지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도착 전·동시 차량은 후보에서 제외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6EFF10-F272-4505-A2DB-C3CD5DA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76725"/>
            <a:ext cx="3857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0D5EA-A4C2-4CA4-82DB-163E1651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7052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미래의 목표 정류장 잔여좌석은 feature로 사용하지 않음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79CB67-1E54-4A99-A14B-41E78D1E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90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Seat / boardability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95CB2-F026-48AF-B944-2E606AA9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0225"/>
            <a:ext cx="3352800" cy="1819275"/>
          </a:xfrm>
          <a:prstGeom xmlns:a="http://schemas.openxmlformats.org/drawingml/2006/main" prst="roundRect">
            <a:avLst>
              <a:gd name="adj" fmla="val 418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BB73D-A2FE-4840-8BDF-FC559D17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0225"/>
            <a:ext cx="666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EFB9DA-AFD4-462D-9A30-3631ACDA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SEATED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A1D4B-875C-4F3A-8285-9D426574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2952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p₀=P(remain=0)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p₂=P(remain≤2)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p₅=P(remain≤5)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bᵢ = 1 − p₀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300B07-B7F5-4F0F-A035-8A9204B6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3352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1E171-08CB-4A20-A75C-0624022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576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C3406-8D85-4A07-90B2-F68148C1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GENERAL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1552C9-025A-4FA3-B51E-DA2491B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91025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혼잡도는 정보로 노출하되 자동으로 ‘승차 실패’ 페널티를 만들지 않는다. operational mass = 1.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30093-2366-4E9D-B976-5755454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673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Mapping HIGH/no-blocker가 아니면 Bus Intelligence 자체를 실행하지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1664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3554F-ADC3-4BCE-AE17-07711E44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07 · BUS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9506F-9AF1-45F0-AE8A-11B05F9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⑥: ‘탈 수 있을 때까지’ expected / P90 wait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E14C7-465F-4513-B13A-D226C2F6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0A67F-DECA-49BC-8D21-980F4BF2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A7C3E-293B-4173-AD25-90F1310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3341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BE3F5-81CD-4BEF-B6A3-95FCDC1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9150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s₁=1,   mᵢ=sᵢbᵢ,   sᵢ₊₁=sᵢ(1−bᵢ)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E[W]=⌈Σᵢ mᵢwᵢ⁵⁰ + sₙ₊₁w_tail⌉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F84A8-E800-48AB-9D83-28C0D2D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P90 = 누적 mass ≥ 0.9가 되는 첫 후보의 wᵢ⁹⁰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없으면 tail; 최종 P90 = max(E[W], P90)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72907-E255-4037-A7AF-9DF2072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6334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43D00-BEFF-433B-9BBA-9FB2099A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915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w_tail = w_last⁹⁰ + max(900 s, median positive headway)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8237-6F81-42AF-B813-9CC5A98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BAF21-BE27-497F-8F0E-B583767E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도착 대기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5415D-F2A1-42F7-9D60-AEA4AE0A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5분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2C42A-6FF0-461D-A535-45C0B1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98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12분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BC016-BC0B-49F9-8A17-2D66CA21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098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20분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7658100" y="2876550"/>
            <a:ext cx="3152775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1D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2178F-1911-479D-8E62-6293685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989FB-3F36-4C1E-B199-8C9E78A1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4AE06-B2C1-42E1-8992-F05867C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9525">
            <a:solidFill>
              <a:srgbClr val="159A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0E451-831E-448F-A9BC-144DF027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81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b=.60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1A064-CAD1-4C3C-9AF8-C849081A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81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b=.80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937D2-2B47-4310-AE3B-C9CF890C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813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b=.90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7F588-7BB9-44A5-931B-80AF52BE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67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mass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C62BC-BF45-4671-8678-874A0DB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48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B077F-780E-4ACC-B8DA-754CDA1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48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.320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7A89D-E2FD-4D4A-94F2-A147C05D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481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.072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A109FD-5F5D-4FC4-95E7-1DCA081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3962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155EF-05AC-4DF8-8B43-5E466A70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57700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AB8F05-6E05-4CA1-961A-3228994D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2915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583309-9D37-4C71-A211-9840477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91100"/>
            <a:ext cx="3562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tail mass .008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Expected ≈ 8.56 → 9분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P90 = 12분</a:t>
            </a:r>
          </a:p>
        </p:txBody>
      </p:sp>
    </p:spTree>
    <p:extLst>
      <p:ext uri="{BB962C8B-B14F-4D97-AF65-F5344CB8AC3E}">
        <p14:creationId xmlns:p14="http://schemas.microsoft.com/office/powerpoint/2010/main" val="763388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157A3D-5911-466E-9E6A-3C459C4B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08 · PARETO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C92B0-C9D2-4393-8E17-2984E66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⑦: 정확 Pareto frontier 후 ε-중복 제거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57D8B-0880-4CEE-BCB4-0B640BDF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B816A-EBD5-4C2D-A962-E95AE5F0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D0AEE-41B6-485D-BEB9-4C4C114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1150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51D58-2C37-4509-818D-0CA3D7A7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6959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x ≺ y  ⇔  ∀k: xₖ≤yₖ  ∧  ∃k: xₖ&lt;yₖ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metrics = (D₀.₅, D₀.₉, Cᵗᵃˣⁱᵘᵖᵖᵉʳ, W, ρ)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4F340-242E-42E0-BABF-115F7960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Exact frontier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9B697-236A-4204-B358-04ED3517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552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모든 feasible 후보에서 엄밀 dominance를 먼저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90B8E-6D01-4E1E-BE75-F19B2B2D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ε-tolerance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2ACF1-C313-47CB-A922-7AF086C6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672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14213D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14213D"/>
                </a:solidFill>
                <a:latin typeface="Cambria Math"/>
                <a:ea typeface="Cambria Math"/>
                <a:cs typeface="Cambria Math"/>
              </a:rPr>
              <a:t>(30 s, 60 s, 100 KRW, 30 s, 0.01)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B65E6-57F7-4591-8183-5C0BABB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61150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48EF6-D4BD-4BF2-880A-836D27C5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5A3F3-D2EF-47F0-8FE1-A58281F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ε-dominance는 순환할 수 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7FB5F-B7F1-48B0-9E41-0BC0E79B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cycle 가능 → Tarjan SCC collapse → source component 유지 → lexicographic 대표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23AD8-FC6D-4F4D-9313-4CBC51A7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428750"/>
            <a:ext cx="4448175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7534275" y="4810125"/>
            <a:ext cx="3381375" cy="9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7534275" y="1914525"/>
            <a:ext cx="95" cy="2895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A0D12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26495-EFDF-4449-B5AB-A44AFB3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1647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택시비 상한 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DE30F-88F8-4FD9-956E-FEF9124B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52625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P90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CF802-C3B2-4C1C-AFDB-0A73C88B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40C63-9271-4716-B5C9-F955D240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243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1D667-E6FC-4C96-A0CB-D8F04B5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FE0C7-B67C-48E0-8E77-F5A8CA8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38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1D3237-7208-438E-A7EB-59711C7B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24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FE256-84A7-41EE-8427-CA3410D5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051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78A80-F7C4-42D4-92E7-CCA56F9F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908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03BFB-C7A0-40AF-A143-F05495DE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717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CB1DEF-8783-46D6-B4D4-3C8A187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324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492"/>
          </a:solidFill>
          <a:ln xmlns:a="http://schemas.openxmlformats.org/drawingml/2006/main" w="9525">
            <a:solidFill>
              <a:srgbClr val="7B849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74CE2-4BE5-44D7-B0F4-E99090BA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053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CA19F9-6261-4CCD-BC9D-E8C07D99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492"/>
          </a:solidFill>
          <a:ln xmlns:a="http://schemas.openxmlformats.org/drawingml/2006/main" w="9525">
            <a:solidFill>
              <a:srgbClr val="7B849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41F47-EA35-4D6F-9DEA-9987567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7623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C782F7-A1DC-4103-9E1A-4D759194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90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8492"/>
          </a:solidFill>
          <a:ln xmlns:a="http://schemas.openxmlformats.org/drawingml/2006/main" w="9525">
            <a:solidFill>
              <a:srgbClr val="7B849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1ECC6B-1028-4EFB-9487-1788F3F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718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z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BE41B9-A2F9-470F-819F-5A12AFAF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00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9525">
            <a:solidFill>
              <a:srgbClr val="159A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72B754-4F59-4BB0-B5FA-6A1103A9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812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E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7820025" y="2400300"/>
            <a:ext cx="2762250" cy="2028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dash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57406-EB0D-4AB9-A7B9-FECAACF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495925"/>
            <a:ext cx="3381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4C6263-F2B9-4390-BD23-87856B8B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24500"/>
            <a:ext cx="3228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FASTEST / PT anchors는 exact set에서 선택</a:t>
            </a:r>
          </a:p>
        </p:txBody>
      </p:sp>
    </p:spTree>
    <p:extLst>
      <p:ext uri="{BB962C8B-B14F-4D97-AF65-F5344CB8AC3E}">
        <p14:creationId xmlns:p14="http://schemas.microsoft.com/office/powerpoint/2010/main" val="1617275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42E41-C527-4E47-B3E7-841BD667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09 · POLICY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C4449-C181-46C3-B297-2293A13D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핵심 ⑧: 하나의 점수가 아닌 4개 정책 추천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1E365-3402-49E2-AB71-3C8E71B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4A81E-4062-414B-A149-F74D1440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A172CE-BD17-4FFF-AC00-22F65CB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C9B0F-FAFC-4128-AFD7-27042DF4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9DD39-2F5B-45BB-B5EC-5BFF5105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FASTEST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EF070-7994-4B75-8723-5A3782BF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7162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argmin lexicographic (P50, −R, ρ, W, P90, taxiUpper, routeId)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00DCB-7718-4DB7-8950-22293EA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7172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C1FEA-4A24-43CE-AFC3-4405AE9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0AE46-8AAD-49AA-B05E-6B83F26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B61EFB-F509-445F-AEA6-85AB1126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0507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R≥0.5 후보가 있으면 그 집합에서 P90 + preference penalty를 최소화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1469D-48C2-4B84-BACA-AEEF6E24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DB29F-FABB-4BF1-9C48-F3E23D7F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88C9A-621B-49D8-BFB0-6A05AC3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EFFICIENT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AA31B-5EE3-4984-9E44-8D92555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3852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비용 상한 tier별 최선 경로 → 인접 tier의 ‘절약시간 / 추가 KRW’ 최대, 단 ≥60초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70DDD-5538-49E7-A17E-AC4686A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493AB-F657-4B96-A5AC-198AF702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78FA8-A216-4155-9B81-18966576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PUBLIC_TRANSIT_ONLY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9CAF73-C4D1-44FD-9965-A81DA7F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71975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taxiUpper=0인 exact feasible route 중 FASTEST 규칙으로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3209A-60B2-4B34-A995-2A7B8926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74009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3CD63-9F27-4700-B009-0B72EC1F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8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penalty_stable = ⌈max(0, W−600)·0.25⌉ + 120·N_taxi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8E01ED-7F95-430C-8475-C1487699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10200"/>
            <a:ext cx="3267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Tie-break는 항상 deterministic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→ 동일 입력·동일 snapshot이면 동일 routeId 순서</a:t>
            </a:r>
          </a:p>
        </p:txBody>
      </p:sp>
    </p:spTree>
    <p:extLst>
      <p:ext uri="{BB962C8B-B14F-4D97-AF65-F5344CB8AC3E}">
        <p14:creationId xmlns:p14="http://schemas.microsoft.com/office/powerpoint/2010/main" val="8369994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4A98B2-2C30-401C-B696-92D7D928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10 · PERFORMANCE / 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9F22B-6908-428C-82C8-9ED5821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6.5초 내부 deadline 안에서 품질을 단계적으로 보존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1E89B-70BB-4117-8436-5C33ABC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98B63-FDBE-4A3E-801E-718B5DD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C8BBA-3BFB-4938-96F3-57170FF5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Target work 5.35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41E4E-7446-45A7-8026-482E6381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38275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Reserve 1.15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032D9-61E7-413B-AA8A-4042DEB3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09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01472-116A-46D7-9F1D-0113E857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00250"/>
            <a:ext cx="1809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492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FCE70-6928-4DA7-93D8-BFF1E915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23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20FCE-962C-484B-9D26-EE190E48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3162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Baseline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89E64-912B-4FD7-A276-8C84C549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F305F-002F-4384-94C4-087ADB7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542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FABD5-7B17-4E64-BA92-84000B72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859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Norm.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C2BA9-4327-422E-92BF-0D6BD12F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5B748-D840-48DD-9C51-9EEA474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63207-5176-44FF-BC7C-626AFFB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859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Mapping/GBIS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DB25B-3740-40E8-A944-BCD24B99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812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7A73F-85AF-4003-B383-0ABF4CE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00250"/>
            <a:ext cx="542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BF9B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0A24A-D36A-4500-BE22-6B4C23A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859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9CCEDC-D192-42C9-A696-2B1FA13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2C946-32B4-45A3-ADC9-D0A62F22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251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FB518-5C08-463B-BAAE-619ADECB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85975"/>
            <a:ext cx="2438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Exact enrich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F3B9E-E105-409D-99E0-F199CECD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7DBA4-7D21-4883-8348-30A4AD7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00250"/>
            <a:ext cx="542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861CB-A483-445B-9018-1805384C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859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Optimize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AB30B-D7C6-4549-BE0C-8053912D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81250"/>
            <a:ext cx="466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5622E-A68E-4729-9A1C-116032C9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0025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492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5D38-1167-42F5-AF47-56E1A60A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000250"/>
            <a:ext cx="2066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C4C"/>
          </a:solidFill>
          <a:ln xmlns:a="http://schemas.openxmlformats.org/drawingml/2006/main" w="9525">
            <a:solidFill>
              <a:srgbClr val="F7F8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58A44-66F3-43F5-8803-D685BB4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85975"/>
            <a:ext cx="1990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Reserve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10BF1-64E8-4C27-81E6-5304649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381250"/>
            <a:ext cx="1990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D95F1-1D9D-443B-9F60-38568F13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※ ms budget: auth 100 · cache 100 · provider 1800 · normalize 300 · mapping/GBIS 900 · models 300 · enrich 1400 · optimize 300 · serialize 150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CF034F-0C13-46F1-9E4C-2619E74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Degradation order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6EC96-6FFE-4FDD-8252-88812E4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F69E8B-7636-4E7A-8223-A8D7465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6DCBF4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A72250-5288-42DC-AA81-CCC6D403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43325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1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선택 geometry / bridge / upstream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68255D-874F-4FD0-855E-9295B2E3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716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deadline이 부족하면 먼저 생략 → 결과 status=PARTIAL + warning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1D3FD2-C1B0-4309-817C-92060D15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11391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69034D-EB68-4B65-9CB2-1AA46BF1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E15910-6EF6-4B3D-A3C0-6F15D58B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필수 baseline provider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7929C8-AE9B-4845-81B7-0930AD5E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716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호출 불가·empty payload는 성공이 아님 → PROVIDER_UNAVAILABLE / 503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B5D49A-2DBD-436E-BC55-D7908437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391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3A376B-A476-4255-B192-1AEAB349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435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957652-32D8-4A20-AF39-8F35CCD1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정확성 불변식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F88CF6-8F03-4BD7-8429-F6EC1184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95900"/>
            <a:ext cx="716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strict budget·시간 chronology·mapping gate는 어떤 경우에도 완화하지 않음</a:t>
            </a:r>
          </a:p>
        </p:txBody>
      </p:sp>
    </p:spTree>
    <p:extLst>
      <p:ext uri="{BB962C8B-B14F-4D97-AF65-F5344CB8AC3E}">
        <p14:creationId xmlns:p14="http://schemas.microsoft.com/office/powerpoint/2010/main" val="12569494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628A5-832F-48AA-98AF-09DF974E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11 · API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39180-0653-4EA6-A78B-DEA0FB66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Public 핵심 API: POST /api/v1/route-searches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FA72A-F2F5-46A1-B961-E49CB293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8E1C-C44E-4EAD-B5F4-553B213B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6AAC-3E3F-4054-841F-767F93B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714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8C2D1-7BFB-4583-AED5-357B0980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Browser →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A1553-6258-48E2-BEA3-1867E10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611F9-E699-4C7C-8940-CD83BD3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Headers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27F61-B04F-499F-85AD-DDE9BD9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Idempotency-Key  required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X-Correlation-Id  optional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E361A-A14F-4458-8D62-E230709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Body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6BCDA-6AB9-4C4F-9480-CF637AA2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14650"/>
            <a:ext cx="4095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origin · destination · departure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arrivalDeadline · strict TaxiBudget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preferences · requestedRecommendations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saveToHistory (Service-local)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B712B-9F78-4C85-902F-F4C6D371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2768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AD09C-A1A7-4EBC-ADD1-7C565F9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87685-EFE3-4FD1-BB7A-BDFDC834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현재 의미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0CFD6-1D0C-438A-8AFF-340F9C04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DEPART_AT 지원. ARRIVE_BY는 필드를 받지만 현재 unsupported 응답으로 명시한다.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CC065-66B6-4420-8941-B77D77A1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4A83F-D134-4AE6-9580-3381F5E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812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A41F1-5E70-4554-BD23-C5AF51F6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3624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contractVersion · searchId · status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generatedAt · expiresAt · baseline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recommendations {fastest, stable, efficient,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publicTransitOnly, paretoFrontier}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warnings · support ·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16EA52-D20A-4B33-B8FE-66D0515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Errors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C44872-8593-4DCA-B9AE-5C286707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4362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00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400 validation · 403 ownership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409 idempotency · 422 infeasible/unsupported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200" b="0">
                <a:solidFill>
                  <a:srgbClr val="4F5968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4F5968"/>
                </a:solidFill>
                <a:latin typeface="Consolas"/>
                <a:ea typeface="Consolas"/>
                <a:cs typeface="Consolas"/>
              </a:rPr>
              <a:t>429 capacity/rate · 502/503 provider · 504 deadline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BF0E1-1CDC-4953-83B3-B62BB700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29250"/>
            <a:ext cx="518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FE0C8-FCBA-4DCB-AA2F-2EEAE03B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57825"/>
            <a:ext cx="502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Public response는 raw provider/model 내부 필드를 노출하지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42279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CFBB90-1C83-476A-B3B7-8EDEDCE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11 · API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6D005-A2CE-4B73-8CD1-E086593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Private API · POST /v1/routes/optimize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D23E6-F3EB-4F6C-B7C8-7F5FE71D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28A48-64EB-48E9-AE8F-85600DF4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5EE59-5340-4CF7-A742-77BB5FFC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7145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A1C46-5D6E-48AA-89D4-47B42BA3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Service →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8E187-E77B-4019-B1EF-341D47C9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8067675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1E46C-99A9-40FF-A3A3-A0CBD3AC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8067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1943100" y="1838325"/>
            <a:ext cx="95" cy="3467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23336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28289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33242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38195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43148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4810125"/>
            <a:ext cx="806767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4158C-9E4E-456D-ADE2-A137308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859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9C90D-591E-4263-A01D-770E7CD0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859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필수 계약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68ABC-918E-465E-B253-25D0E5B3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812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B11F1-E31B-4E46-BA9A-FD877249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3812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Bearer service JWT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3F4D5-1B5F-4245-9268-E15FDA5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76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Headers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A84EE-B9B8-46D1-9F26-9B3139AE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X-Correlation-Id · X-Request-Deadline · Idempotency-Key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A6072-C381-4979-AECC-D904FC7B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718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E208D-3CFD-429E-B7AD-3756F7AF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3718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contractVersion="1.0" · requestId · coordinates · departureTime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16A9B-D27D-4E87-A9F4-0D859CC2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671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Constraints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2FA1F9-85DE-49C0-87B2-DF7892E7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671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arrivalDeadline · strict taxiBudget · walk/transfer/mode limits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E4093-3090-4235-AED4-653CD994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171337-9A6B-4296-8983-F525890D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624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status · computation · recommendations · routes · paretoRouteIds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4A4BD-6FA9-47C9-ACEA-4322E997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57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2A8EA-0E39-49A1-B89F-86AF3B3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57750"/>
            <a:ext cx="6353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providerStatus · modelVersions · warnings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0D568-9A6D-4B9C-AA0F-516933E0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38325"/>
            <a:ext cx="29813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60748-0AD5-490B-9AAE-84929A9C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38325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17D702-316D-4B89-831F-11C7A98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9775"/>
            <a:ext cx="2581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상태 코드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518AF-1B8B-47C1-8277-2037D9F8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71725"/>
            <a:ext cx="2581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0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200 · 400 · 401 · 409 · 422 · 429 · 503 · 504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078D4D-F2FC-46DD-813E-52863106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298132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20670-FA8D-4EB6-90B3-D786D800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B3DD9F-8F15-4591-BB03-F15F963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28975"/>
            <a:ext cx="2581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응답 status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49F465-66FA-4EAF-8D40-DFEA62B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90925"/>
            <a:ext cx="25812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COMPLETE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PARTIAL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NO_FEASIBLE_ROUTE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PROVIDER_UNAVAILABLE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11AB68-9FCF-45A7-86F7-59C70D58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29175"/>
            <a:ext cx="29813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03D082-ED54-47B7-B233-53739B0E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29175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61E6D-8C8A-4C1B-9ECF-B096044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00625"/>
            <a:ext cx="2581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버전 층위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6E8794-50FB-40AA-91B0-1CD0D64D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362575"/>
            <a:ext cx="2581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Contract set 1.4.0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Public metadata 1.4.0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Private metadata 1.2.0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Wire family 1.0</a:t>
            </a:r>
          </a:p>
        </p:txBody>
      </p:sp>
    </p:spTree>
    <p:extLst>
      <p:ext uri="{BB962C8B-B14F-4D97-AF65-F5344CB8AC3E}">
        <p14:creationId xmlns:p14="http://schemas.microsoft.com/office/powerpoint/2010/main" val="11457548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019D83-31E5-434D-8011-65DC9FD4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12 · PROVIDER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A8C76-2074-4112-9B16-9C51C886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외부 API는 capability gate를 통과한 기능만 활성화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A11B1-65FB-4CA4-97F7-3CB4C20A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946FD-6D0A-498B-8331-366415C6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8256C-BDAB-4E6B-B9C5-197A52B9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372CD-C894-48A3-B941-0B1C6DC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2514600" y="1466850"/>
            <a:ext cx="95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7410450" y="1466850"/>
            <a:ext cx="95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19240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400050" y="2381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2838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32956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37528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42100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00050" y="46672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69C3F-B023-4412-8B90-6C40CCA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144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8EF6A-5556-44D5-AB30-4728018B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5144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기능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9D7F8-0B2C-445A-996A-F8D63174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5144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E869A-5EE5-4FB6-8A96-6F3037C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716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Transit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CFC53-D0B1-43E2-904C-22AFAB96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9716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대중교통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7F48B-DB0B-46B3-8A4C-70E679A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716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7A643-4C82-4846-94D0-5E436DB0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288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Walk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52021-31CD-45D1-B692-423302C1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288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접근·환승·이탈 도보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1E2E6-D544-4BFD-9F37-9B22112F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4288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637389-A7A5-48A5-B4EC-0BC985B8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860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Mobility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F7BDB-FD20-4796-8921-EA0928A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860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택시 시간·요금 상한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7AAFD-AB5F-4000-902C-2A9DCA9F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B91CE9-52B6-455F-A1D0-55DF0650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432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Local / Maps 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395C79-2EE5-48F7-8BAD-2A1B9ECA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432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장소검색·역지오·지도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0951E-21FA-42F9-90BF-DCD4370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432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구현, key/domain 의존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93085-04FA-4296-9039-8262405A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004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GBIS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276D87-B5CF-4A02-80F3-31CA8269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004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버스 ETA·잔여좌석·route master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EE6B1A-4A6A-4B7D-A748-6B8AA04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004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/ capability gated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BBB015-1AF4-4460-B068-1B52F665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576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KMA / GITS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719396-866D-4BE1-B384-DCAD8A98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2576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날씨·도로 교통 feature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6451CB-4F80-4CCC-A990-392FBFE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2576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adapter; GITS URL 미설정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2F8B14-C7E4-40DF-949B-623F8E0F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148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TMAP / ODsay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05A57A-1610-4DA6-8F44-9B7EC22B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714875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transit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BC31E6-BE9F-4BE9-88CD-624D314B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714875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adapter; 런타임 미검증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D6A3E3-D038-453F-B56B-BDFBD3EB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Gate progression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2DD081-B976-4136-BE0A-C635E17B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62575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BEEF2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25C662-C443-4CBF-AE4C-68B7A14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62575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2B5D8E-092E-4C32-AD10-AFCDED48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62575"/>
            <a:ext cx="2247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159A6E"/>
            </a:solidFill>
            <a:prstDash val="solid"/>
          </a:ln>
        </p:spPr>
      </p:sp>
      <p:cxnSp>
        <p:nvCxnSpPr>
          <p:cNvPr id="9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514850" y="56197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7200900" y="56197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59A6E"/>
            </a:solidFill>
            <a:prstDash val="solid"/>
            <a:tailEnd type="arrow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67FE71-C21E-459F-98DB-C08C5DA2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DOCUMENTED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0E3B53-4FE3-45B3-80D8-2AFCE8D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05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KEY_VERIFIED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AE6369-91D3-46F6-9F00-67872F2F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05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PRODUCTION_APPROVED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AE6EA9-0656-4C8B-8280-B7EEF869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197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코드가 존재한다는 사실만으로 Provider를 켜지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596440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E89FD-E36A-4852-BCA3-20D7BCD0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13 · IMPLEMENTATION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54C45-EEFF-441F-8CA6-74B1030C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현재 구현 증거: 동작하는 범위와 아직 주장하지 않는 범위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00429-92A0-4BAE-8242-2D25374A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AD5A6-70D3-4C45-910D-68721E0C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3B3BC-657F-4943-AFC4-1FE53557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7239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D597B-6DA5-4C51-97A1-879CE25A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2CC2-FB04-42D2-920B-295E6BD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683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로컬 Docker live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563D2-0DD6-4181-ACF1-AD57E258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683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Browser-facing Nginx/Web → Service → JWT-authenticated Routing → 실제 Kakao Transit/Walk/Directions → finite canonical graph → optimizer → PostGIS → public 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CD534-59F0-4C8C-9C13-398665DD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3962400" cy="1895475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3BCD6-E9B9-4364-B35F-5407387F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35433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HTTP 200 · PARTIAL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WALK → BUS → BUS → WALK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P50=P90=1,579 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Taxi upper 0 ≤ 10,000 KRW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81F60-DD06-4110-AECA-BE4BDDAE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86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rPr>
              <a:t>왜 PARTIAL인가?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D1871-0196-4F08-9D54-66C975E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43325"/>
            <a:ext cx="2667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Canonical BUS mapping · GBIS · ETA/Seat model evidence가 없음을 warnings/provenance로 정직하게 표시.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C7755-0DD0-40EA-8A08-7D3F965F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38275"/>
            <a:ext cx="3390900" cy="1971675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5729C-B62E-4CCF-BF95-129C26F6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38275"/>
            <a:ext cx="66675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EE587-62D2-4CAE-8862-06031DFC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972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아직 미검증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37B29-9B88-42C5-A1C8-A107B95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71675"/>
            <a:ext cx="29908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AWS staging/production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비-Kakao Provider live keys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GBIS 좌석 추론·model registry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ARRIVE_BY 운영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7D0CF-C8A0-458C-9815-F81EE27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3390900" cy="1609725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C19F9-330E-49EF-AD1C-76067B9C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66675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175B6-3ED3-4FD2-A0FA-1B28220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76675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현재 강점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B00B9-9271-439A-AB8B-2C3ABACF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38625"/>
            <a:ext cx="29908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6 healthy containers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private field leakage 없음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strict budget 유지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partial provider failure 명시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9C2EA7-EC71-4C3E-A334-8D9F46E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1087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7EB5C-F3B6-476E-9CCD-B230AAD9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880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데모 메시지: ‘다 됐다’가 아니라 ‘무엇이 실제 증명됐는지’를 보여준다</a:t>
            </a:r>
          </a:p>
        </p:txBody>
      </p:sp>
    </p:spTree>
    <p:extLst>
      <p:ext uri="{BB962C8B-B14F-4D97-AF65-F5344CB8AC3E}">
        <p14:creationId xmlns:p14="http://schemas.microsoft.com/office/powerpoint/2010/main" val="18952273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1DDDF-D120-4217-A1BF-2F0FA512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14 ·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9DEAC-90B8-4FD9-9889-F990C16F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정리: 82TA의 기술적 차별점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B063D-70C1-4855-90C3-C4BA34F1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247E8-5707-4761-90EA-603AFE6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62D0-E0A2-461B-AE41-9A6F4A4D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BE153-A858-4657-8F4D-D1D073C5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3352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Chronology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E17DD-EC6A-40E2-9CB2-1AD684AE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97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모든 leg의 실제 진입 시각으로 P50/P90·대기·비용을 재평가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14350" y="2562225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9802-F7C0-4BB3-8716-9E7BC857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908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9A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3AF0D-0B34-470B-A859-805889F6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Evidence gated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2ED00-F4A0-45C4-B4BC-A0BE080B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956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HIGH-confidence mapping과 freshness를 통과한 버스만 ETA·좌석 추론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514350" y="3848100"/>
            <a:ext cx="109728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9FF87-F2DE-445A-A9C0-0B10AADB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D98B1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64FE2-93B2-43B3-858E-31983581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052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Contract-driven honesty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9AB57-9E3E-4601-B42C-151F353C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F5968"/>
                </a:solidFill>
                <a:latin typeface="Malgun Gothic"/>
                <a:ea typeface="Malgun Gothic"/>
                <a:cs typeface="Malgun Gothic"/>
              </a:rPr>
              <a:t>strict budget·PARTIAL·provenance·capability gate로 결과의 한계까지 계약화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1F7C9-E4DD-46F6-B02D-D246DE38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8B0A9-D36B-4DE7-8B35-C6367B2D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‘빠른 길’이 아니라, 예산 안에서 탈 수 있고 설명 가능한 길을 추천한다.</a:t>
            </a:r>
          </a:p>
        </p:txBody>
      </p:sp>
    </p:spTree>
    <p:extLst>
      <p:ext uri="{BB962C8B-B14F-4D97-AF65-F5344CB8AC3E}">
        <p14:creationId xmlns:p14="http://schemas.microsoft.com/office/powerpoint/2010/main" val="1635995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9EE090-21D2-4AAB-8B92-A439E820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API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59C49-4198-4FD7-9B0D-F6FA0947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A · Public API catalog (1/2)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603B7-D53D-4B00-ADBB-C658652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17B53-407F-4AAC-BABB-C083E54B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62053-1EE0-4C90-AD14-78D0A63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6BF28-9B9B-430C-A495-BB54B98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923925" y="1362075"/>
            <a:ext cx="95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2" name=""/>
          <p:cNvCxnSpPr/>
          <p:nvPr/>
        </p:nvCxnSpPr>
        <p:spPr>
          <a:xfrm xmlns:a="http://schemas.openxmlformats.org/drawingml/2006/main">
            <a:off x="6353175" y="1362075"/>
            <a:ext cx="95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3" name=""/>
          <p:cNvCxnSpPr/>
          <p:nvPr/>
        </p:nvCxnSpPr>
        <p:spPr>
          <a:xfrm xmlns:a="http://schemas.openxmlformats.org/drawingml/2006/main">
            <a:off x="400050" y="16573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19526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>
            <a:off x="400050" y="2247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6" name=""/>
          <p:cNvCxnSpPr/>
          <p:nvPr/>
        </p:nvCxnSpPr>
        <p:spPr>
          <a:xfrm xmlns:a="http://schemas.openxmlformats.org/drawingml/2006/main">
            <a:off x="400050" y="25431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7" name=""/>
          <p:cNvCxnSpPr/>
          <p:nvPr/>
        </p:nvCxnSpPr>
        <p:spPr>
          <a:xfrm xmlns:a="http://schemas.openxmlformats.org/drawingml/2006/main">
            <a:off x="400050" y="2838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31337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9" name=""/>
          <p:cNvCxnSpPr/>
          <p:nvPr/>
        </p:nvCxnSpPr>
        <p:spPr>
          <a:xfrm xmlns:a="http://schemas.openxmlformats.org/drawingml/2006/main">
            <a:off x="400050" y="34290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37242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4019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400050" y="43148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400050" y="46101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49053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5" name=""/>
          <p:cNvCxnSpPr/>
          <p:nvPr/>
        </p:nvCxnSpPr>
        <p:spPr>
          <a:xfrm xmlns:a="http://schemas.openxmlformats.org/drawingml/2006/main">
            <a:off x="400050" y="52006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5495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57912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1F0B9-3275-4D21-9EB2-59447BC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97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8434C-A813-420E-AF4C-F99A6E9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97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Method ·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19986-1385-42AA-A21C-5C498093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Operation / 기능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2CED99-E450-42B9-82D8-0401148B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7049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5A902-2F56-42D2-A8BD-2D9A75FF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049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/api/v1/auth/register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332A5-6494-4ED1-8BC0-6B2580BC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049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registerWithEmail · 회원가입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F53F8-065E-4509-B48C-4643D72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002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45F8A-1632-4A5A-AF5C-5432442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/api/v1/auth/login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474707-CB21-49D8-B951-F7F7993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loginWithEmail · 로그인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856A3E-4C7D-4832-9B52-5CDACE77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955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4F2C5-9A5F-4CC6-9709-26594DE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55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/api/v1/guest-sessions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033D0-EB78-4B75-90D7-370D401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createGuestSession · 게스트 세션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DF2F2-9211-47C4-A9F9-F2E5166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908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86E6B2-F230-4902-8049-014EC5E7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/api/v1/session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3DDB4C-5111-4093-889B-FB727EBA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getCurrentSession · 현재 세션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4C92C-4BAE-4423-A14C-18C591D5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860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A8D21B-3808-4FA2-A5AB-190D9D5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 /api/v1/session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9F3F04-B3DE-4E7C-927E-94D2210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revokeCurrentSession · 로그아웃/폐기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08B02B-5C5A-4C6F-9E1B-78E19939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813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55E9B0-0A9D-4FB5-A37A-E68C8CD1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/api/v1/places/suggest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568405-C37C-42CD-BD9C-104A8C65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suggestPlaces · 장소 자동완성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F31F93-0369-484A-9B3D-6ABC8EA5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766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AB56C8-086B-4AAB-98DF-5AC2C38A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/api/v1/places/reverse-geocode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0B8556-23A8-4388-A52F-BAA79899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reverseGeocode · 좌표→주소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A66F74-0182-4519-A448-30E2D79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719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21CE0C-A9DE-4DB0-B2C1-D36B4953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/api/v1/route-searches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E5D630-D4E6-4F6A-BEB6-32F42D2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createRouteSearch · 경로 탐색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492BA1-FA3F-4C79-8056-C2907C65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671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478E01-AF5F-4F5A-8EBE-12620C93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/api/v1/route-searches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FE3BFE-8946-47BE-AA0A-3EE2F2C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671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listRouteSearches · 탐색 이력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AB889A-3A59-496E-A0F9-24E71EA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624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A98CFA-30B1-4C23-B093-4314B829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/api/v1/route-searches/{searchId}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DA10AA-5ADE-4308-8C89-9DCD2C8E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getRouteSearch · 결과 상세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9FB433-E610-420F-80BE-1E664F4F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577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FD238D-B3C4-4392-AB30-E65709C3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/api/v1/route-searches/{searchId}/feedback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371130-E480-4457-B00C-F2EC09D8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submitRouteFeedback · 피드백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1AABEE-30F3-48CD-A609-5F0A97E9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530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7B465E-A7D6-41A9-9D99-4FCFBC6F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/api/v1/me/preferences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02039B-B580-44E1-AC65-86CB9D97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getPreferences · 선호 조회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5E518EC-CB92-4AE1-82E0-518F2599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482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7F8203-38C9-4B43-AB37-60C29AA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82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PUT /api/v1/me/preferences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E121FC-507C-4DCB-8AB0-E3FA6056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482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updatePreferences · 선호 수정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C9281C-9E49-4602-A783-9B3440CF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435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38B3FD6-7240-4320-8A22-66DFC43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/api/v1/me/saved-places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4F4502-6623-4AB5-968B-DB5BBDC4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listSavedPlaces · 저장 장소 목록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5139B5-AEDE-44AF-AD94-3CB7A36A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8388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8FF667-EA41-4D12-8B5F-C8FD7AC4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388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/api/v1/me/saved-places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4A6633-B901-4FD2-87F7-9A48CF90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388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createSavedPlace · 장소 저장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8886E3-7C6A-4BD7-9E2C-528D9DB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총 30 operations · 상세 schema/response는 service-public.v1.yaml이 정본</a:t>
            </a:r>
          </a:p>
        </p:txBody>
      </p:sp>
    </p:spTree>
    <p:extLst>
      <p:ext uri="{BB962C8B-B14F-4D97-AF65-F5344CB8AC3E}">
        <p14:creationId xmlns:p14="http://schemas.microsoft.com/office/powerpoint/2010/main" val="13546484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E23655-9C6F-42AE-AA10-06CAF4CD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API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4D8F2-A900-4352-8460-C40C962C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B · Public API catalog (2/2)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C1F34-2E50-41C8-9EDE-5C9BFC07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9855F-B3BD-4309-BFBD-5AA3E2DD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DA97-7333-43D9-A375-522B10D9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8B87-F219-434D-BE54-9B73D5D2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1391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923925" y="1362075"/>
            <a:ext cx="95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2" name=""/>
          <p:cNvCxnSpPr/>
          <p:nvPr/>
        </p:nvCxnSpPr>
        <p:spPr>
          <a:xfrm xmlns:a="http://schemas.openxmlformats.org/drawingml/2006/main">
            <a:off x="6353175" y="1362075"/>
            <a:ext cx="95" cy="4724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3" name=""/>
          <p:cNvCxnSpPr/>
          <p:nvPr/>
        </p:nvCxnSpPr>
        <p:spPr>
          <a:xfrm xmlns:a="http://schemas.openxmlformats.org/drawingml/2006/main">
            <a:off x="400050" y="16573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4" name=""/>
          <p:cNvCxnSpPr/>
          <p:nvPr/>
        </p:nvCxnSpPr>
        <p:spPr>
          <a:xfrm xmlns:a="http://schemas.openxmlformats.org/drawingml/2006/main">
            <a:off x="400050" y="19526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>
            <a:off x="400050" y="2247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6" name=""/>
          <p:cNvCxnSpPr/>
          <p:nvPr/>
        </p:nvCxnSpPr>
        <p:spPr>
          <a:xfrm xmlns:a="http://schemas.openxmlformats.org/drawingml/2006/main">
            <a:off x="400050" y="25431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7" name=""/>
          <p:cNvCxnSpPr/>
          <p:nvPr/>
        </p:nvCxnSpPr>
        <p:spPr>
          <a:xfrm xmlns:a="http://schemas.openxmlformats.org/drawingml/2006/main">
            <a:off x="400050" y="2838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8" name=""/>
          <p:cNvCxnSpPr/>
          <p:nvPr/>
        </p:nvCxnSpPr>
        <p:spPr>
          <a:xfrm xmlns:a="http://schemas.openxmlformats.org/drawingml/2006/main">
            <a:off x="400050" y="31337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89" name=""/>
          <p:cNvCxnSpPr/>
          <p:nvPr/>
        </p:nvCxnSpPr>
        <p:spPr>
          <a:xfrm xmlns:a="http://schemas.openxmlformats.org/drawingml/2006/main">
            <a:off x="400050" y="34290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0" name=""/>
          <p:cNvCxnSpPr/>
          <p:nvPr/>
        </p:nvCxnSpPr>
        <p:spPr>
          <a:xfrm xmlns:a="http://schemas.openxmlformats.org/drawingml/2006/main">
            <a:off x="400050" y="37242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4019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400050" y="43148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400050" y="46101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4" name=""/>
          <p:cNvCxnSpPr/>
          <p:nvPr/>
        </p:nvCxnSpPr>
        <p:spPr>
          <a:xfrm xmlns:a="http://schemas.openxmlformats.org/drawingml/2006/main">
            <a:off x="400050" y="49053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5" name=""/>
          <p:cNvCxnSpPr/>
          <p:nvPr/>
        </p:nvCxnSpPr>
        <p:spPr>
          <a:xfrm xmlns:a="http://schemas.openxmlformats.org/drawingml/2006/main">
            <a:off x="400050" y="52006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6" name=""/>
          <p:cNvCxnSpPr/>
          <p:nvPr/>
        </p:nvCxnSpPr>
        <p:spPr>
          <a:xfrm xmlns:a="http://schemas.openxmlformats.org/drawingml/2006/main">
            <a:off x="400050" y="5495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97" name=""/>
          <p:cNvCxnSpPr/>
          <p:nvPr/>
        </p:nvCxnSpPr>
        <p:spPr>
          <a:xfrm xmlns:a="http://schemas.openxmlformats.org/drawingml/2006/main">
            <a:off x="400050" y="57912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DDBA7-9F18-4683-8E3E-64F6C535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97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#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3CFFA-A931-4724-9745-E4B5DA4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097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Method ·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518EF-34E5-4223-AFF3-2B16F8B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097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Operation / 기능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D4C18-0136-4598-A6BF-F05E2138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7049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85CC74-818B-4AA2-BFC5-F8004FFE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049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PATCH /api/v1/me/saved-places/{savedPlaceId}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E933F-CF2B-45F8-8692-7D8A24E7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049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updateSavedPlace · 저장 장소 수정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DE9E2D-C325-4BF5-BCEF-407CDDB2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002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B70898-70D7-47BD-A005-F645632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 /api/v1/me/saved-places/{savedPlaceId}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EC928E-43CA-45A3-9F71-48D8595E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deleteSavedPlace · 저장 장소 삭제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F38FB-84F9-4048-BF92-DE403E34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955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B3CF27-C98E-46DE-BAEB-F50A3B95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55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/api/v1/me/favorite-journeys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2FAD51-8C32-45DB-8F23-AA491B9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listFavoriteJourneys · 즐겨찾기 목록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3EA442-3026-4C38-AA2C-95A8455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5908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63AC94-A4B7-4F60-B16A-A65523D2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/api/v1/me/favorite-journeys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CFAFA2-E212-4943-BD8B-0E52C6D0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createFavoriteJourney · 즐겨찾기 생성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8344A-DAA9-41DD-BAA7-3E501CFD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860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A6AF1B-E118-4085-9DF6-5B589E5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860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PATCH /api/v1/me/favorite-journeys/{journeyId}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585A4A-768E-4844-AD34-60765A98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updateFavoriteJourney · 수정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3F175C-19C3-4D1D-9B45-83EDF6DC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813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192D4C-7A38-4752-A06B-048F089B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 /api/v1/me/favorite-journeys/{journeyId}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5AF576-7007-493F-98B0-4CD6BDC1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deleteFavoriteJourney · 삭제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AFA087-1E0B-419D-A882-297D643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766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7D12CD-1903-4757-B32F-2B9060A6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/api/v1/me/consents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046516-64E7-4374-AC39-2A9BB20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listConsents · 동의 조회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009172-7C24-47D6-A442-90487A39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719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819A44-D920-4ADF-B3DD-C8EDDB1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PUT /api/v1/me/consents/{consentType}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7DCF8C-530E-4C26-92B9-79FE8DE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719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upsertConsent · 동의 변경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BC846F-E275-4D7A-A668-1E100E7B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671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BF3AD8-A36C-4A25-844B-18CC21AD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/api/v1/me/data-exports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01CB9B-1793-4B38-9763-088D44B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671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createDataExport · 데이터 내보내기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9C5266-1A34-4FBE-A500-E091C672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3624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DA18A0-03A8-4E4B-A8A8-21D4845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/api/v1/me/data-exports/{jobId}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4C8F46-1B2A-4D2C-9244-B07B9414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getDataExport · export 상태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D473A9-A14D-4DAA-949E-C41696E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577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E1AE0C-3934-41A2-89BE-6238E409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577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/api/v1/me/data-deletions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B4CA75-DDA8-46A4-897F-FD11D28C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577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createDataDeletion · 삭제 요청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A5E8DD-AF95-4036-ADD8-1A3DD0B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5300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EF881C-3CC0-4953-B2C4-6CDC382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/api/v1/me/data-deletions/{jobId}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5BF2A0-C9AE-4B48-88C5-C70441E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getDataDeletion · 삭제 상태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2431C1-1F21-4AED-9DAC-41F438B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4827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082FBF-21CC-4303-A06A-8C75AA86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827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 /api/v1/me/data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6D4A169-505C-4161-A56B-82930209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4827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deleteMyData · deprecated alias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369BA3-5AAB-4D33-97BF-833E559E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43550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A5D35F-EA1F-412C-A759-4A6426BC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/api/v1/support/capabilities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4941CD-35E0-417E-AC7D-E9BE22C4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43550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getSupportCapabilities · 지원 상태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CD875C-534B-4CB4-AD5C-8E307A6C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838825"/>
            <a:ext cx="3524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CC64BC-BE58-4978-B738-9EB042B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38825"/>
            <a:ext cx="52578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/api/v1/health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000298-59FE-428E-8DE0-DE00A1B1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838825"/>
            <a:ext cx="5267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getServiceHealth · 헬스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858050-CC49-421E-8FFE-3D63C49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38875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개인정보 lifecycle과 capability/health까지 Public contract에 포함</a:t>
            </a:r>
          </a:p>
        </p:txBody>
      </p:sp>
    </p:spTree>
    <p:extLst>
      <p:ext uri="{BB962C8B-B14F-4D97-AF65-F5344CB8AC3E}">
        <p14:creationId xmlns:p14="http://schemas.microsoft.com/office/powerpoint/2010/main" val="1448829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81D9B-E188-4EBB-AED2-42C15AC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API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0DC9-5102-4240-B7E5-5C55DC19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C · Private API catalog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7BD78-6C23-4385-8E37-3FE1B2C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EFD7C-4ABA-4D51-870A-C3299694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3A8FC-381D-42B2-BA13-86D11CA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AF8CB-3AE6-41D1-8768-E0997C82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11391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667250" y="1552575"/>
            <a:ext cx="95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7372350" y="1552575"/>
            <a:ext cx="95" cy="4191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20764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26003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31242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36480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41719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46958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52197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64B8E-0E71-4915-9511-8DC2147A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002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Method ·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63A08-D450-4F44-A83E-0C461E26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60020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14A66A-7F6A-4A7D-965B-20960107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002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/ 보안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F87AA-FFE1-4CA3-88AF-E3428DAA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1240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/v1/routes/optimize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9604D-803E-48C8-9EC7-066A996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240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optimizeRoutes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18B14-AD04-41D0-9EC1-18DE7BF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240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경로 최적화 · JWT + 3 required headers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CA64E-EB15-421F-931D-8A15F0F7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47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/v1/capabilities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B9A51-6749-47B5-BC29-B81D4AB6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getRoutingCapabilities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4A74D-2048-4E82-848E-9A2340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47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Provider/feature support snapshot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C7F8FD-B64A-4B7D-A4F5-CF384A0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718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/v1/health/live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E51338-92AD-462A-AA63-C1F4A0B6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7182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getLiveness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2492B-6A01-419D-8D98-0D887AA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7182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프로세스 생존 · no auth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33D1C4-8D39-4794-8FB8-DFE60305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957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/v1/health/ready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C6FE4-C75C-4FDB-B76E-569BB1E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9570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51DCF2-C234-473F-B01B-81CA49A5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6957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의존성·트래픽 준비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B79E4-C43A-445E-A2D6-C2BCF981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195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1D9E9-CE3F-4528-9255-5E9E2FD5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195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A2CC20-9D22-4418-A497-3A3F282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195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contract/rank/mapping/model 버전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88AAB-9FF8-4F05-B172-CD3FFFD3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434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/internal/admin/cache/invalidate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EEBF59-A872-4F52-BEC8-F4BBAAB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43450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invalidateCache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C346B5-DE04-4C06-8A9F-2D279E9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7434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관리자 cache invalidation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98DE4A-2FB5-44C6-AFCA-BD8182A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673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/internal/admin/models/{version}/activate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FE31AB-AF9F-4D0E-9F01-FEAC8B2D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26732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activateModelVersion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FE28CF-5F75-4435-8886-1615CE6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26732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검증된 model 활성화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5B1694-570B-46B8-B1FE-E6F9CC7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34075"/>
            <a:ext cx="113919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E8"/>
          </a:solidFill>
          <a:ln xmlns:a="http://schemas.openxmlformats.org/drawingml/2006/main" w="9525">
            <a:solidFill>
              <a:srgbClr val="D64C4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1825F1-8A55-46E6-93D5-A86FF5F1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048375"/>
            <a:ext cx="1102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64C4C"/>
                </a:solidFill>
                <a:latin typeface="Malgun Gothic"/>
                <a:ea typeface="Malgun Gothic"/>
                <a:cs typeface="Malgun Gothic"/>
              </a:rPr>
              <a:t>PRIVATE BY DEFAULT  ·  health/live만 무인증 — 나머지는 service JWT 또는 관리자 권한과 audit가 필요</a:t>
            </a:r>
          </a:p>
        </p:txBody>
      </p:sp>
    </p:spTree>
    <p:extLst>
      <p:ext uri="{BB962C8B-B14F-4D97-AF65-F5344CB8AC3E}">
        <p14:creationId xmlns:p14="http://schemas.microsoft.com/office/powerpoint/2010/main" val="13894291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4ACEC1-FE95-43E7-BA54-7B2E591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EXTERNAL API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99BBA-9890-45F1-AA55-172792DC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D · Kakao / Browser API 상세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093ED-F875-4E28-8BBD-51EF6CFD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5E80C-5C99-4A1B-8346-A716E63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B3039-574D-484B-9A86-DD0F23D4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AF5CF-1C16-4CA9-9D73-F1ED3EA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0" y="1352550"/>
            <a:ext cx="95" cy="4714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9144000" y="1352550"/>
            <a:ext cx="95" cy="4714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17811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2209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26384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00050" y="30670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34956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8" name=""/>
          <p:cNvCxnSpPr/>
          <p:nvPr/>
        </p:nvCxnSpPr>
        <p:spPr>
          <a:xfrm xmlns:a="http://schemas.openxmlformats.org/drawingml/2006/main">
            <a:off x="400050" y="39243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4352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70" name=""/>
          <p:cNvCxnSpPr/>
          <p:nvPr/>
        </p:nvCxnSpPr>
        <p:spPr>
          <a:xfrm xmlns:a="http://schemas.openxmlformats.org/drawingml/2006/main">
            <a:off x="400050" y="47815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400050" y="52101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400050" y="56388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1F87C-2516-4804-8DFD-7288B265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/ Endpoint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F3E51-3F8D-4D0C-AA01-111DAD1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0017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기능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B8213-00D3-4466-989B-BC168636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001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B0412-B803-47A8-A7B4-D013BEEB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288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Maps JS SDK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/v2/maps/sdk.js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F068C-9221-4BB9-A67E-D127664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288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지도·Marker·Polyline·click/drag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3C6CF-DCBE-4636-80D8-3D9D4FEF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288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구현 · key/domain 의존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8B118A-E62F-4E6C-8D77-03E343CF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574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Browser Geolocation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5E890-4578-4C10-B269-5E32E06E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5742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현재 위치 취득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B6A09-E686-493C-9818-23B9FF9E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574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구현 · 사용자 권한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81A20-C4D0-4788-B3DA-24130DEB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860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Local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/v2/local/search/keyword.json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C10B95-6CE3-4FEA-8C16-75E58D8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8605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장소 자동완성·검색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2449DA-16B6-43DF-ABEE-4B76A078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860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Service proxy 구현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E10F1-3531-45FD-BA9F-D54BAF1B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146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Local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/v2/local/geo/coord2address.json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F4AC3-7361-4BDF-A511-DFC39C21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1467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역지오코딩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68F50-C71D-4A35-864B-1705D116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146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Service proxy 구현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89EA0-7019-4462-933B-0679EF97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433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Public Transit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/v2/routing/publictraffic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3E85CE-80A6-4C5E-82C9-1695709D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433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대중교통 baseline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FA406-9621-421E-97CA-BC0365D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5433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B11A70-1D74-47BE-9B2A-5B92FC35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719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Walk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/v2/routing/walk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1E4E9-4625-4E70-A816-0245F918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7192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access/transfer/egress 도보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358996-2CF6-425E-9DF6-51E1E8C1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9719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FD2EC8-ADDC-4668-BB69-46D1D75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4005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Mobility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/v1/directions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9E168-1E03-4BF3-AA1B-DA2658A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0055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현재 택시 시간·요금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C7C9B7-E256-4837-9CC7-8EEC4D87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005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로컬 live proven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AD7A4-9895-4B56-B7F4-7F689716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291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Mobility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/v1/destinations/directions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330856-9369-416C-A27F-854DAC93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2917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다중 목적지 coarse ranking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DCA9F1-2D6E-4BD6-B251-229C52A0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291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live 미검증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975297-0AFB-4E23-8909-E6C5252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2578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Mobility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/v1/origins/directions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A84B03-D2E3-45D1-B99E-6E6A40DA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578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다중 출발지 egress ranking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86172C-67B6-41F2-BF04-2DF0B59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2578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live 미검증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7E9F75-3C7C-4223-A3A4-C6D5DA21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864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Kakao Mobility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/v1/future/directions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6F68F-EEC2-4BFF-8036-EE35278E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686425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미래 출발 택시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00E5EA-082E-404C-BB3E-96A77156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864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live 미검증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17E5B0-3A47-43BA-9AB9-788A1D67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9825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실제 base URLs와 인증 header는 adapter가 소유; 브라우저가 Routing/Provider를 직접 호출하지 않음</a:t>
            </a:r>
          </a:p>
        </p:txBody>
      </p:sp>
    </p:spTree>
    <p:extLst>
      <p:ext uri="{BB962C8B-B14F-4D97-AF65-F5344CB8AC3E}">
        <p14:creationId xmlns:p14="http://schemas.microsoft.com/office/powerpoint/2010/main" val="540656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3D5E19-714C-4F43-B80B-6CB5324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APPENDIX · EXTERNAL API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3E504-F444-4C14-9CE1-3848C971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E · 기타 Provider API 상세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222D-2ACC-4D35-9F0C-CCB4D30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4FAE7-8D91-4DEF-9B60-6D1910BA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F443C-4483-46FF-9CE6-864FDF03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454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28591-BF83-457C-AED1-3A2F9927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838700" y="1438275"/>
            <a:ext cx="95" cy="4543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>
            <a:off x="9172575" y="1438275"/>
            <a:ext cx="95" cy="4543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19431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24479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00050" y="29527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400050" y="34575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39624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400050" y="446722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49720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54768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5210B-AF56-40ED-BC97-5C7182C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859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Provider /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67E20-C188-4FE6-ABF1-5BAEC44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485900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기능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B4CAD-CD20-4D6E-B02D-0996C71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859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 상태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0A983-B5C9-4F28-8534-76A5670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90725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GBIS v2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/busarrivalservice/v2/getBusArrivalListv2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3E6361-CCF4-46E8-A6D6-682206D5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90725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정류장 도착 ETA·잔여좌석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D9575-E24E-4F8D-880E-1767BC2D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9072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capability gated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30E3-1109-459A-BD8D-D403AE4F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9555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GBIS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/busrouteservice/getAreaBusRouteList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03607-869B-4A42-8CF3-1FF6AFF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495550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route master/catalog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2C979-0462-41C0-9769-ECF098C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202D4-12FB-49BD-8B83-2968B9A3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00375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GBIS location / station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49B63-5B09-4A7B-98B2-05451E7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00375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차량 위치·주변 정류장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FF5230-8872-486A-A33F-C5947901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037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endpoint 미설정 ·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DDB13-B1DA-4A88-BF5D-5930D17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052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KMA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/VilageFcstInfoService_2.0/getUltraSrtNcst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443FDE-15C7-4CB4-A1CB-C5330006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505200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초단기 기상 feature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E7D92-71BD-4546-BC52-86CC3D89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EDD753-E835-4055-A160-82CC931D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10025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2D6140-5884-4A81-9051-0935CBF0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10025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도로 교통 feature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CCCF22-AA1C-45FB-85F7-F5514CF3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1002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HTTPS URL 미설정 · 추측 금지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B6ECAB-9893-4F2F-9951-590B8184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51485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TMAP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POST /transit/routes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18AAD7-BA78-4DE0-A097-38B4D1D5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14850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대중교통 fallback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9B1828-142B-4D0F-BEFE-4902545B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1485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live 미검증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C7D481-8EAD-4723-BE0D-7A83859A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19675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ODsay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GET /v1/api/searchPubTransPathT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3E49B-72D7-4B54-87DD-4CD91D5D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019675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fallback·구조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A579BF-86C1-49D0-8A5A-1B1DFD4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19675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adapter · live 미검증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F16BED-0FFE-4234-9ED2-6A392A70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5245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KASI holiday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64BE10-D3A4-47DD-A5AD-43EFD2E5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524500"/>
            <a:ext cx="4162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달력/공휴일 feature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84687E-66DB-42C5-9862-73B1A63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245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계획 · adapter 없음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6E244C-5D30-4A5B-9A85-B7143701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91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2BED50-BA69-4232-B666-508A80F6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81725"/>
            <a:ext cx="1108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Transit fallback: Kakao → TMAP → ODsay   ·   empty payload ≠ success</a:t>
            </a:r>
          </a:p>
        </p:txBody>
      </p:sp>
    </p:spTree>
    <p:extLst>
      <p:ext uri="{BB962C8B-B14F-4D97-AF65-F5344CB8AC3E}">
        <p14:creationId xmlns:p14="http://schemas.microsoft.com/office/powerpoint/2010/main" val="162626979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937D84-78F0-4525-9236-878A225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rPr>
              <a:t>CONTRACT CHEAT 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1137F-7E27-491A-AB35-6719E4D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Appendix F · Canonical DTO / 불변식 치트시트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110490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D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79010-8894-43BD-B869-1726FA8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82TA · CONTRACT SET 1.4.0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518CD-CA9A-444E-8ECA-A0158FA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B8492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138F-ACCD-4DD4-8CB9-33B9AD2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1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4FE2A-6373-4BBD-A357-473F688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2352675" y="1438275"/>
            <a:ext cx="95" cy="4572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6981825" y="1438275"/>
            <a:ext cx="95" cy="4572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00050" y="18954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400050" y="23526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28098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400050" y="32670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400050" y="37242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400050" y="41814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400050" y="46386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400050" y="50958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cxnSp>
        <p:nvCxnSpPr>
          <p:cNvPr id="68" name=""/>
          <p:cNvCxnSpPr/>
          <p:nvPr/>
        </p:nvCxnSpPr>
        <p:spPr>
          <a:xfrm xmlns:a="http://schemas.openxmlformats.org/drawingml/2006/main">
            <a:off x="400050" y="5553075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1DB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7CDCD-7C79-4BA9-A00B-0FB4D9B1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859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ACE62-AAB2-494A-BF44-B8F0642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4859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Canonical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E6D75-DFD0-4A27-9C35-FFFEE8B2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859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발표 시 강조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BA241-B6A8-4ED6-94BF-B4FCA913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431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7F5E3-D884-4C1D-BE05-F14A7ED9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431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timezone-aware ISO 8601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3FE6A-41B3-44B4-85A4-BDB89E6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departure/arrival/deadline 일관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988BB-DDE1-4FE0-BD85-3AD0D174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003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Duration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4307C-9D3E-46B4-ACBC-C040F92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003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integer seconds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094C1-AC4B-494C-B488-1EBFDA1E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P90 ≥ P50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FEE3A5-BAAA-4968-A1D7-0B837E3F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8575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Distance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24686-B3DE-4A5F-983E-4016030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integer meters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CD9FE-30FF-40E2-8EEF-C6304960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WGS84 lon/lat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D6EDA-9AD5-4C38-9BB8-C44AB462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147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Money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8B44D-7867-4164-BE36-B11EA93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147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integer KRW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7E1093-F864-4AE5-B55B-5DCBE161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taxi upper sum ≤ strict budget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E11B76-1AD2-478A-A4B4-445E120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7719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Missingness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81571-68E0-482F-A5D6-D8CDC6EE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null ≠ unknown ≠ unsupported ≠ 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5F0652-E0A5-4998-A06A-07A2A5E7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719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모르는 위험을 0으로 두지 않음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F6C791-5B9A-4326-9B21-5B205B7A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291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Bus 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5C3D1-5882-4DD4-AB2C-EDB875EC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291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mapping HIGH + no blockers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02DA80-068F-44CA-914C-960134A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사용자 stop arrival 이후 차량만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16BBC1-8A75-4335-A253-06A9B77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6863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Failure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7D76E2-5719-4DC0-A6B2-3FEBF0D5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863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COMPLETE / PARTIAL / explicit errors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75EBCA-8F4E-48EA-B17C-FF909AA9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provider failure를 숨기지 않음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53DB8-4A6C-4FAE-A225-BEAF677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435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Provenance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4E2B4D-A9B8-4646-844E-B3B644DF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provider/model/rank/mapping versions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1EB7F1-832E-4A64-A8F7-4EA7025B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재현·감사·rollback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3B2F5E-BCCC-46C0-81EF-B9994DE2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00700"/>
            <a:ext cx="178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Boundary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53CC6D-F5FD-428A-80AD-6F5AE1D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00700"/>
            <a:ext cx="445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Public projection / Private evidence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654371-2272-4F13-B453-33E063E6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00700"/>
            <a:ext cx="4638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A0D12"/>
                </a:solidFill>
                <a:latin typeface="Malgun Gothic"/>
                <a:ea typeface="Malgun Gothic"/>
                <a:cs typeface="Malgun Gothic"/>
              </a:rPr>
              <a:t>raw provider shape 외부 유출 금지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8C4712-55B9-4C85-8013-52813CDE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91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35F5D8-2107-44B3-97BE-97D5BF15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181725"/>
            <a:ext cx="1110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Version pins: contract 1.4.0 · private OpenAPI 1.2.0 · wire 1.0 · rank 0.2.0 · strategy 2.0.0 · mapping 0.1.0-planned</a:t>
            </a:r>
          </a:p>
        </p:txBody>
      </p:sp>
    </p:spTree>
    <p:extLst>
      <p:ext uri="{BB962C8B-B14F-4D97-AF65-F5344CB8AC3E}">
        <p14:creationId xmlns:p14="http://schemas.microsoft.com/office/powerpoint/2010/main" val="1715477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2026-08-24T00:12:05.2610000Z</dcterms:created>
  <dcterms:modified xsi:type="dcterms:W3CDTF">2026-08-24T00:12:05.2610000Z</dcterms:modified>
</coreProperties>
</file>